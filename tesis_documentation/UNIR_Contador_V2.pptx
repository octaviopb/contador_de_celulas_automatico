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76" r:id="rId3"/>
    <p:sldId id="277" r:id="rId28"/>
    <p:sldId id="257" r:id="rId4"/>
    <p:sldId id="258" r:id="rId5"/>
    <p:sldId id="259" r:id="rId6"/>
    <p:sldId id="278" r:id="rId29"/>
    <p:sldId id="260" r:id="rId7"/>
    <p:sldId id="261" r:id="rId8"/>
    <p:sldId id="262" r:id="rId9"/>
    <p:sldId id="279" r:id="rId30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0" r:id="rId31"/>
    <p:sldId id="273" r:id="rId20"/>
    <p:sldId id="274" r:id="rId21"/>
    <p:sldId id="275" r:id="rId2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17" y="1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7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0700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74812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8968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2160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4402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</p:spTree>
    <p:extLst>
      <p:ext uri="{BB962C8B-B14F-4D97-AF65-F5344CB8AC3E}">
        <p14:creationId xmlns:p14="http://schemas.microsoft.com/office/powerpoint/2010/main" val="241115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43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3105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>
              <a:sym typeface="Arial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5574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755639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1600200"/>
            <a:ext cx="2286000" cy="4525963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0" y="1600200"/>
            <a:ext cx="6705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179321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A81BC971-1A6D-8C71-71A1-B3149CDA9DB5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0" y="2957513"/>
            <a:ext cx="9144000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>
                <a:sym typeface="Arial Narrow" panose="020B0606020202030204" pitchFamily="34" charset="0"/>
              </a:rPr>
              <a:t>Click to edit Master title style</a:t>
            </a:r>
          </a:p>
        </p:txBody>
      </p:sp>
      <p:pic>
        <p:nvPicPr>
          <p:cNvPr id="1027" name="Picture 2" descr="logoblanco.png">
            <a:extLst>
              <a:ext uri="{FF2B5EF4-FFF2-40B4-BE49-F238E27FC236}">
                <a16:creationId xmlns:a16="http://schemas.microsoft.com/office/drawing/2014/main" id="{93F8CC51-CFF4-9C8E-22AC-7F1D64DA9F1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38" y="3106738"/>
            <a:ext cx="122237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828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5pPr>
      <a:lvl6pPr marL="4572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6pPr>
      <a:lvl7pPr marL="9144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7pPr>
      <a:lvl8pPr marL="13716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8pPr>
      <a:lvl9pPr marL="18288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6pPr>
      <a:lvl7pPr marL="29718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7pPr>
      <a:lvl8pPr marL="34290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8pPr>
      <a:lvl9pPr marL="38862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208" y="1576764"/>
            <a:ext cx="80832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Contador Automático de Células Musculares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30352" y="3313850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Utilizando Aprendizaje Profundo y Aprendizaje por Refuerzo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30352" y="4049942"/>
            <a:ext cx="8083296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30352" y="4168814"/>
            <a:ext cx="8083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Bautista Mercado Ricardo  ·  Trejo Melena Jesús Adrián  ·  Pérez Bravo Octavio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4552862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Internacional de La Rioja  ·  Maestría en Inteligencia Artificial  · 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" y="5896483"/>
            <a:ext cx="9144000" cy="13716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4073857" y="6300694"/>
            <a:ext cx="4846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Internacional de La Rioja</a:t>
            </a:r>
            <a:endParaRPr lang="en-US" sz="1300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11698C99-855B-A548-C901-413B5196C2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7" y="6033643"/>
            <a:ext cx="2497138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4684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2FAF9B99-9A18-D4ED-B515-23811E4799E3}"/>
              </a:ext>
            </a:extLst>
          </p:cNvPr>
          <p:cNvGrpSpPr/>
          <p:nvPr/>
        </p:nvGrpSpPr>
        <p:grpSpPr>
          <a:xfrm>
            <a:off x="5943600" y="1202436"/>
            <a:ext cx="2743200" cy="4160520"/>
            <a:chOff x="347472" y="1115568"/>
            <a:chExt cx="2743200" cy="4160520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99AA343B-8EB8-273B-B451-31599B884539}"/>
                </a:ext>
              </a:extLst>
            </p:cNvPr>
            <p:cNvSpPr/>
            <p:nvPr/>
          </p:nvSpPr>
          <p:spPr>
            <a:xfrm>
              <a:off x="347472" y="1115568"/>
              <a:ext cx="2743200" cy="4160520"/>
            </a:xfrm>
            <a:prstGeom prst="rect">
              <a:avLst/>
            </a:prstGeom>
            <a:solidFill>
              <a:srgbClr val="E8F6FD"/>
            </a:solidFill>
            <a:ln w="12700">
              <a:solidFill>
                <a:srgbClr val="0098CD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41CD384C-F152-AC8E-8D7B-61ACBB1F6E71}"/>
                </a:ext>
              </a:extLst>
            </p:cNvPr>
            <p:cNvSpPr/>
            <p:nvPr/>
          </p:nvSpPr>
          <p:spPr>
            <a:xfrm>
              <a:off x="347472" y="1115568"/>
              <a:ext cx="2743200" cy="64008"/>
            </a:xfrm>
            <a:prstGeom prst="rect">
              <a:avLst/>
            </a:prstGeom>
            <a:solidFill>
              <a:srgbClr val="0098CD"/>
            </a:solidFill>
            <a:ln/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28AD040-FD03-4743-8D86-ACC4679772BD}"/>
              </a:ext>
            </a:extLst>
          </p:cNvPr>
          <p:cNvGrpSpPr/>
          <p:nvPr/>
        </p:nvGrpSpPr>
        <p:grpSpPr>
          <a:xfrm>
            <a:off x="3054096" y="1172718"/>
            <a:ext cx="2743200" cy="4160520"/>
            <a:chOff x="347472" y="1115568"/>
            <a:chExt cx="2743200" cy="4160520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A3A06740-225C-3F7D-B3A4-CED31944B052}"/>
                </a:ext>
              </a:extLst>
            </p:cNvPr>
            <p:cNvSpPr/>
            <p:nvPr/>
          </p:nvSpPr>
          <p:spPr>
            <a:xfrm>
              <a:off x="347472" y="1115568"/>
              <a:ext cx="2743200" cy="4160520"/>
            </a:xfrm>
            <a:prstGeom prst="rect">
              <a:avLst/>
            </a:prstGeom>
            <a:solidFill>
              <a:srgbClr val="E8F6FD"/>
            </a:solidFill>
            <a:ln w="12700">
              <a:solidFill>
                <a:srgbClr val="0098CD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948C8AE7-79E9-266E-85AD-2CAE5AC96295}"/>
                </a:ext>
              </a:extLst>
            </p:cNvPr>
            <p:cNvSpPr/>
            <p:nvPr/>
          </p:nvSpPr>
          <p:spPr>
            <a:xfrm>
              <a:off x="347472" y="1115568"/>
              <a:ext cx="2743200" cy="64008"/>
            </a:xfrm>
            <a:prstGeom prst="rect">
              <a:avLst/>
            </a:prstGeom>
            <a:solidFill>
              <a:srgbClr val="0098CD"/>
            </a:solidFill>
            <a:ln/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D85E1B08-EA5B-75C3-8C68-256B0D236CF6}"/>
              </a:ext>
            </a:extLst>
          </p:cNvPr>
          <p:cNvGrpSpPr/>
          <p:nvPr/>
        </p:nvGrpSpPr>
        <p:grpSpPr>
          <a:xfrm>
            <a:off x="164592" y="1202436"/>
            <a:ext cx="2743200" cy="4160520"/>
            <a:chOff x="347472" y="1115568"/>
            <a:chExt cx="2743200" cy="4160520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849EFBF6-B466-20CD-1CB4-96A5C745D7E0}"/>
                </a:ext>
              </a:extLst>
            </p:cNvPr>
            <p:cNvSpPr/>
            <p:nvPr/>
          </p:nvSpPr>
          <p:spPr>
            <a:xfrm>
              <a:off x="347472" y="1115568"/>
              <a:ext cx="2743200" cy="4160520"/>
            </a:xfrm>
            <a:prstGeom prst="rect">
              <a:avLst/>
            </a:prstGeom>
            <a:solidFill>
              <a:srgbClr val="E8F6FD"/>
            </a:solidFill>
            <a:ln w="12700">
              <a:solidFill>
                <a:srgbClr val="0098CD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7BAE2DA3-AFC0-BDC4-E6C4-7B78763214F8}"/>
                </a:ext>
              </a:extLst>
            </p:cNvPr>
            <p:cNvSpPr/>
            <p:nvPr/>
          </p:nvSpPr>
          <p:spPr>
            <a:xfrm>
              <a:off x="347472" y="1115568"/>
              <a:ext cx="2743200" cy="64008"/>
            </a:xfrm>
            <a:prstGeom prst="rect">
              <a:avLst/>
            </a:prstGeom>
            <a:solidFill>
              <a:srgbClr val="0098CD"/>
            </a:solidFill>
            <a:ln/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 · PROBLEMA — El análisis manual: lento, costoso y subjetivo</a:t>
            </a:r>
            <a:endParaRPr lang="en-US" sz="2400" dirty="0"/>
          </a:p>
        </p:txBody>
      </p:sp>
      <p:pic>
        <p:nvPicPr>
          <p:cNvPr id="3" name="Image 0" descr="/home/claude/unir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384298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" y="325297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excesivo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29184" y="371017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a meses de esfuerzo humano en cuantificación manual de imágenes histológicas</a:t>
            </a:r>
            <a:endParaRPr lang="en-US" sz="1300" dirty="0"/>
          </a:p>
        </p:txBody>
      </p:sp>
      <p:pic>
        <p:nvPicPr>
          <p:cNvPr id="6" name="Image 1" descr="/home/claude/unir_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76" y="2384298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18104" y="325297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 inter-observador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209544" y="371017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de estudios reportan diferencias significativas entre analistas en las mismas muestras (Sandford et al., 2024)</a:t>
            </a:r>
            <a:endParaRPr lang="en-US" sz="1300" dirty="0"/>
          </a:p>
        </p:txBody>
      </p:sp>
      <p:pic>
        <p:nvPicPr>
          <p:cNvPr id="9" name="Image 2" descr="/home/claude/unir_media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2384298"/>
            <a:ext cx="7772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98464" y="325297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limitadas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089904" y="371017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MyoSAT, Charisma y similares requieren ajuste manual y están optimizadas para tejido animal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64592" y="5943600"/>
            <a:ext cx="8595360" cy="0"/>
          </a:xfrm>
          <a:prstGeom prst="rect">
            <a:avLst/>
          </a:prstGeom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8"/>
          <p:cNvSpPr/>
          <p:nvPr/>
        </p:nvSpPr>
        <p:spPr>
          <a:xfrm>
            <a:off x="256032" y="5989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Charisma tarda ~5 min en procesar ~300 fibras  ·  Cellpose reporta baja precisión en tinción H&amp;E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000772" y="6524245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C20CDC55-A5E8-4454-1950-F60C77F23984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 · JUSTIFICACIÓN — ¿Por qué un nuevo sistema?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493" y="6391656"/>
            <a:ext cx="9144000" cy="13716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8046720" y="5788152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3535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| 3</a:t>
            </a:r>
            <a:endParaRPr lang="en-US" sz="1200" dirty="0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32055975-B3EA-8FB6-F94B-8F89F071FDB2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4D8724A-26BF-23BB-32E8-BCD5E493921F}"/>
              </a:ext>
            </a:extLst>
          </p:cNvPr>
          <p:cNvSpPr/>
          <p:nvPr/>
        </p:nvSpPr>
        <p:spPr>
          <a:xfrm>
            <a:off x="347472" y="1453896"/>
            <a:ext cx="4133088" cy="118872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D02282C-1B83-AB6F-F473-0DE6E2A8C927}"/>
              </a:ext>
            </a:extLst>
          </p:cNvPr>
          <p:cNvSpPr/>
          <p:nvPr/>
        </p:nvSpPr>
        <p:spPr>
          <a:xfrm>
            <a:off x="347472" y="1453896"/>
            <a:ext cx="347472" cy="118872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998B13E-ADF0-6F66-9461-E9A7DB9B5C5A}"/>
              </a:ext>
            </a:extLst>
          </p:cNvPr>
          <p:cNvSpPr/>
          <p:nvPr/>
        </p:nvSpPr>
        <p:spPr>
          <a:xfrm>
            <a:off x="347472" y="1453896"/>
            <a:ext cx="347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D6EDB40-12E3-BFDB-AA9C-A97B58FC29B0}"/>
              </a:ext>
            </a:extLst>
          </p:cNvPr>
          <p:cNvSpPr/>
          <p:nvPr/>
        </p:nvSpPr>
        <p:spPr>
          <a:xfrm>
            <a:off x="786384" y="1563624"/>
            <a:ext cx="3602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herramientas actuales (MyoSAT) exigen ajuste manual de parámetros, introduciendo sesgo del operador.</a:t>
            </a:r>
            <a:endParaRPr lang="en-US" sz="12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E576AAB-5EC2-9A5A-8F74-EC408CACF7D1}"/>
              </a:ext>
            </a:extLst>
          </p:cNvPr>
          <p:cNvSpPr/>
          <p:nvPr/>
        </p:nvSpPr>
        <p:spPr>
          <a:xfrm>
            <a:off x="4663440" y="1453896"/>
            <a:ext cx="4133088" cy="118872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CD5FE12-2562-7B7F-3536-68DF2ECAA87D}"/>
              </a:ext>
            </a:extLst>
          </p:cNvPr>
          <p:cNvSpPr/>
          <p:nvPr/>
        </p:nvSpPr>
        <p:spPr>
          <a:xfrm>
            <a:off x="4663440" y="1453896"/>
            <a:ext cx="347472" cy="118872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2C516CB-537D-EE11-D953-E52AEE818AD6}"/>
              </a:ext>
            </a:extLst>
          </p:cNvPr>
          <p:cNvSpPr/>
          <p:nvPr/>
        </p:nvSpPr>
        <p:spPr>
          <a:xfrm>
            <a:off x="4663440" y="1453896"/>
            <a:ext cx="347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EF8448D-F3BA-10AD-0CF6-CDB54C466DD0}"/>
              </a:ext>
            </a:extLst>
          </p:cNvPr>
          <p:cNvSpPr/>
          <p:nvPr/>
        </p:nvSpPr>
        <p:spPr>
          <a:xfrm>
            <a:off x="5102352" y="1563624"/>
            <a:ext cx="3602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con orientación angular usan tomografía DTI ($500K–$3M USD) — inaccesible para laboratorios estándar.</a:t>
            </a:r>
            <a:endParaRPr lang="en-US" sz="12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43115570-DB4C-4EFD-DDAD-DDB8C98F7174}"/>
              </a:ext>
            </a:extLst>
          </p:cNvPr>
          <p:cNvSpPr/>
          <p:nvPr/>
        </p:nvSpPr>
        <p:spPr>
          <a:xfrm>
            <a:off x="347472" y="2825496"/>
            <a:ext cx="4133088" cy="118872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EC0A02F-EB2E-E4EA-05B6-C797A1EA2273}"/>
              </a:ext>
            </a:extLst>
          </p:cNvPr>
          <p:cNvSpPr/>
          <p:nvPr/>
        </p:nvSpPr>
        <p:spPr>
          <a:xfrm>
            <a:off x="347472" y="2825496"/>
            <a:ext cx="347472" cy="118872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CBFF679-2E4E-7D88-66DB-FC763C0E5986}"/>
              </a:ext>
            </a:extLst>
          </p:cNvPr>
          <p:cNvSpPr/>
          <p:nvPr/>
        </p:nvSpPr>
        <p:spPr>
          <a:xfrm>
            <a:off x="347472" y="2825496"/>
            <a:ext cx="347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F9B6304-9711-C988-2789-12FDC9FDA1CE}"/>
              </a:ext>
            </a:extLst>
          </p:cNvPr>
          <p:cNvSpPr/>
          <p:nvPr/>
        </p:nvSpPr>
        <p:spPr>
          <a:xfrm>
            <a:off x="786384" y="2935224"/>
            <a:ext cx="3602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métodos existentes no escalan a imágenes WSI con decenas de miles de fibras musculares.</a:t>
            </a:r>
            <a:endParaRPr lang="en-US" sz="12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E112BEA-30B8-B974-A650-A0F589BC849C}"/>
              </a:ext>
            </a:extLst>
          </p:cNvPr>
          <p:cNvSpPr/>
          <p:nvPr/>
        </p:nvSpPr>
        <p:spPr>
          <a:xfrm>
            <a:off x="4663440" y="2825496"/>
            <a:ext cx="4133088" cy="118872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09B8DBE-DB7D-46FA-343B-A605C45AD116}"/>
              </a:ext>
            </a:extLst>
          </p:cNvPr>
          <p:cNvSpPr/>
          <p:nvPr/>
        </p:nvSpPr>
        <p:spPr>
          <a:xfrm>
            <a:off x="4663440" y="2825496"/>
            <a:ext cx="347472" cy="118872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0183EED-094D-03C6-65D6-23FC8D9A81FD}"/>
              </a:ext>
            </a:extLst>
          </p:cNvPr>
          <p:cNvSpPr/>
          <p:nvPr/>
        </p:nvSpPr>
        <p:spPr>
          <a:xfrm>
            <a:off x="4663440" y="2825496"/>
            <a:ext cx="347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13EB415-34B5-4677-36FB-D645797A87FF}"/>
              </a:ext>
            </a:extLst>
          </p:cNvPr>
          <p:cNvSpPr/>
          <p:nvPr/>
        </p:nvSpPr>
        <p:spPr>
          <a:xfrm>
            <a:off x="5102352" y="2935224"/>
            <a:ext cx="3602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modelos fue entrenada con tejido animal (MyoV: aves, ganado), no con tejido humano patológico.</a:t>
            </a:r>
            <a:endParaRPr lang="en-US" sz="12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6D157AE4-7B53-B2E0-C778-25516F722584}"/>
              </a:ext>
            </a:extLst>
          </p:cNvPr>
          <p:cNvSpPr/>
          <p:nvPr/>
        </p:nvSpPr>
        <p:spPr>
          <a:xfrm>
            <a:off x="347472" y="4197096"/>
            <a:ext cx="4133088" cy="118872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9454FB37-4935-BFFA-19C8-B1C5FB4A5E90}"/>
              </a:ext>
            </a:extLst>
          </p:cNvPr>
          <p:cNvSpPr/>
          <p:nvPr/>
        </p:nvSpPr>
        <p:spPr>
          <a:xfrm>
            <a:off x="347472" y="4197096"/>
            <a:ext cx="347472" cy="118872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A52CB135-1DEE-6D29-37C2-6E25F022DCF6}"/>
              </a:ext>
            </a:extLst>
          </p:cNvPr>
          <p:cNvSpPr/>
          <p:nvPr/>
        </p:nvSpPr>
        <p:spPr>
          <a:xfrm>
            <a:off x="347472" y="4197096"/>
            <a:ext cx="347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39F8685-95EE-7934-42E2-7923159F762D}"/>
              </a:ext>
            </a:extLst>
          </p:cNvPr>
          <p:cNvSpPr/>
          <p:nvPr/>
        </p:nvSpPr>
        <p:spPr>
          <a:xfrm>
            <a:off x="786384" y="4306824"/>
            <a:ext cx="3602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herramienta estima la orientación angular de fibras desde microscopía óptica convencional.</a:t>
            </a:r>
            <a:endParaRPr lang="en-US" sz="12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96054331-6233-1CBE-0729-2167E2B2A07A}"/>
              </a:ext>
            </a:extLst>
          </p:cNvPr>
          <p:cNvSpPr/>
          <p:nvPr/>
        </p:nvSpPr>
        <p:spPr>
          <a:xfrm>
            <a:off x="4663440" y="4197096"/>
            <a:ext cx="4133088" cy="118872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0A2AEA02-930D-8083-8635-15EEC3B3B797}"/>
              </a:ext>
            </a:extLst>
          </p:cNvPr>
          <p:cNvSpPr/>
          <p:nvPr/>
        </p:nvSpPr>
        <p:spPr>
          <a:xfrm>
            <a:off x="4663440" y="4197096"/>
            <a:ext cx="347472" cy="118872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11F9595A-091B-AEB3-57D6-7737CBEA6251}"/>
              </a:ext>
            </a:extLst>
          </p:cNvPr>
          <p:cNvSpPr/>
          <p:nvPr/>
        </p:nvSpPr>
        <p:spPr>
          <a:xfrm>
            <a:off x="4663440" y="4197096"/>
            <a:ext cx="347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F4B64E66-15EC-50DA-C945-708024795FA6}"/>
              </a:ext>
            </a:extLst>
          </p:cNvPr>
          <p:cNvSpPr/>
          <p:nvPr/>
        </p:nvSpPr>
        <p:spPr>
          <a:xfrm>
            <a:off x="5102352" y="4306824"/>
            <a:ext cx="3602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variabilidad en técnicas de tinción H&amp;E degrada la precisión en herramientas generalistas.</a:t>
            </a:r>
            <a:endParaRPr lang="en-US" sz="1200" dirty="0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3F7EE35A-ACE1-92FD-C8BF-D5A7D682909D}"/>
              </a:ext>
            </a:extLst>
          </p:cNvPr>
          <p:cNvSpPr/>
          <p:nvPr/>
        </p:nvSpPr>
        <p:spPr>
          <a:xfrm>
            <a:off x="347472" y="5632704"/>
            <a:ext cx="8449056" cy="365760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7BFA0CD7-8CC0-DABD-5AB2-4344BDBF1733}"/>
              </a:ext>
            </a:extLst>
          </p:cNvPr>
          <p:cNvSpPr/>
          <p:nvPr/>
        </p:nvSpPr>
        <p:spPr>
          <a:xfrm>
            <a:off x="457200" y="5632704"/>
            <a:ext cx="8339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Conclusión: no existe solución que combine automatización total + tejido humano + orientación angular + microscopía óptica de bajo costo.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 · ÉTICA — Consideraciones éticas del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83646" y="1788312"/>
            <a:ext cx="4069080" cy="201168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283646" y="1788312"/>
            <a:ext cx="73152" cy="20116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66526" y="1898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526" y="2318664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Anonimización de muestras. Cumplimiento LGPDPPSO y derechos ARCO.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18486" y="1788312"/>
            <a:ext cx="4069080" cy="201168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718486" y="1788312"/>
            <a:ext cx="73152" cy="20116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901366" y="1898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01366" y="2318664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procesos de segmentación. Alineado con SB 53 y EO 14110.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646" y="3982872"/>
            <a:ext cx="4069080" cy="201168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83646" y="3982872"/>
            <a:ext cx="73152" cy="20116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66526" y="4092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 de sesgos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526" y="4513224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y normalización para consistencia independiente del laboratorio.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18486" y="3982872"/>
            <a:ext cx="4069080" cy="201168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718486" y="3982872"/>
            <a:ext cx="73152" cy="20116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901366" y="4092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01366" y="4513224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apoya, no sustituye al patólogo. Diagnóstico final: experto humano.</a:t>
            </a:r>
            <a:endParaRPr lang="en-US" sz="13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0E88CD02-BC8E-FBC4-FEAA-4F806898E0A9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OBJETIVO GENERAL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Desarrollar un sistema de cuantificación automática de fibras musculares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3749040"/>
            <a:ext cx="1920240" cy="1737360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3840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&gt;0.85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709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Coef. Dice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3749040"/>
            <a:ext cx="1920240" cy="1737360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14600" y="3840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709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conteo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3749040"/>
            <a:ext cx="1920240" cy="1737360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&lt;2 min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4709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WSI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3749040"/>
            <a:ext cx="1920240" cy="1737360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720840" y="3840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&lt;5°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4709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angular</a:t>
            </a:r>
            <a:endParaRPr lang="en-US" sz="12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CB31A00C-E3D3-0458-437B-9E1A45B9B3C9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2122FA5B-851C-28E6-D2C0-7E168637AA7B}"/>
              </a:ext>
            </a:extLst>
          </p:cNvPr>
          <p:cNvSpPr/>
          <p:nvPr/>
        </p:nvSpPr>
        <p:spPr>
          <a:xfrm>
            <a:off x="457200" y="2455164"/>
            <a:ext cx="8229600" cy="987552"/>
          </a:xfrm>
          <a:prstGeom prst="rect">
            <a:avLst/>
          </a:prstGeom>
          <a:solidFill>
            <a:srgbClr val="F0F7FB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7EEF0D54-4189-8A8D-DBDD-AA64C0BA5792}"/>
              </a:ext>
            </a:extLst>
          </p:cNvPr>
          <p:cNvSpPr/>
          <p:nvPr/>
        </p:nvSpPr>
        <p:spPr>
          <a:xfrm>
            <a:off x="640080" y="2546604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Aprendizaje Profundo (Mask R-CNN) y Aprendizaje por Refuerzo (DQN/PPO) para proporcionar mediciones precisas, objetivas y reproducibles de tamaño, forma y orientación de fibras musculares en imágenes de microscopía óptica convencional (WSI).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 · OBJETIVOS ESPECÍFICOS — Objetivos 1–3: Preprocesamiento, Segmentación, Morfología</a:t>
            </a:r>
            <a:endParaRPr lang="en-US" sz="22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92DA7415-557C-A697-A923-8568E7F8D05A}"/>
              </a:ext>
            </a:extLst>
          </p:cNvPr>
          <p:cNvSpPr/>
          <p:nvPr/>
        </p:nvSpPr>
        <p:spPr>
          <a:xfrm>
            <a:off x="0" y="896473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946625EB-1619-F315-3B75-9A8D097DA0FB}"/>
              </a:ext>
            </a:extLst>
          </p:cNvPr>
          <p:cNvSpPr/>
          <p:nvPr/>
        </p:nvSpPr>
        <p:spPr>
          <a:xfrm>
            <a:off x="365760" y="1536192"/>
            <a:ext cx="8412480" cy="13258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F1BBA1A6-C780-19C8-6BB3-EA6CB5C94538}"/>
              </a:ext>
            </a:extLst>
          </p:cNvPr>
          <p:cNvSpPr/>
          <p:nvPr/>
        </p:nvSpPr>
        <p:spPr>
          <a:xfrm>
            <a:off x="365760" y="1536192"/>
            <a:ext cx="438912" cy="13258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F73662B8-89BD-2611-7E52-FDB7CA780C6C}"/>
              </a:ext>
            </a:extLst>
          </p:cNvPr>
          <p:cNvSpPr/>
          <p:nvPr/>
        </p:nvSpPr>
        <p:spPr>
          <a:xfrm>
            <a:off x="365760" y="1536192"/>
            <a:ext cx="438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OE1</a:t>
            </a:r>
            <a:endParaRPr lang="en-US" sz="1100" dirty="0"/>
          </a:p>
        </p:txBody>
      </p:sp>
      <p:pic>
        <p:nvPicPr>
          <p:cNvPr id="31" name="Image 0" descr="/home/claude/v2_media/icon4.png">
            <a:extLst>
              <a:ext uri="{FF2B5EF4-FFF2-40B4-BE49-F238E27FC236}">
                <a16:creationId xmlns:a16="http://schemas.microsoft.com/office/drawing/2014/main" id="{E1581EC6-E08A-F695-E26F-924AF55D4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83664"/>
            <a:ext cx="475488" cy="475488"/>
          </a:xfrm>
          <a:prstGeom prst="rect">
            <a:avLst/>
          </a:prstGeom>
        </p:spPr>
      </p:pic>
      <p:sp>
        <p:nvSpPr>
          <p:cNvPr id="32" name="Text 6">
            <a:extLst>
              <a:ext uri="{FF2B5EF4-FFF2-40B4-BE49-F238E27FC236}">
                <a16:creationId xmlns:a16="http://schemas.microsoft.com/office/drawing/2014/main" id="{993BC3BA-CF9A-BAB4-434E-11AB3C513B22}"/>
              </a:ext>
            </a:extLst>
          </p:cNvPr>
          <p:cNvSpPr/>
          <p:nvPr/>
        </p:nvSpPr>
        <p:spPr>
          <a:xfrm>
            <a:off x="1536192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de imágenes histológicas</a:t>
            </a:r>
            <a:endParaRPr lang="en-US" sz="140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1AAFD49B-A588-7545-EC29-460DDD8D0B42}"/>
              </a:ext>
            </a:extLst>
          </p:cNvPr>
          <p:cNvSpPr/>
          <p:nvPr/>
        </p:nvSpPr>
        <p:spPr>
          <a:xfrm>
            <a:off x="6766560" y="1645920"/>
            <a:ext cx="192024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7113FF71-3E08-4B76-C0AD-9C9F04DC4F2D}"/>
              </a:ext>
            </a:extLst>
          </p:cNvPr>
          <p:cNvSpPr/>
          <p:nvPr/>
        </p:nvSpPr>
        <p:spPr>
          <a:xfrm>
            <a:off x="676656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y CV pre/post</a:t>
            </a:r>
            <a:endParaRPr lang="en-US" sz="10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90065207-6AE9-DB77-A8BD-1A83ADD35396}"/>
              </a:ext>
            </a:extLst>
          </p:cNvPr>
          <p:cNvSpPr/>
          <p:nvPr/>
        </p:nvSpPr>
        <p:spPr>
          <a:xfrm>
            <a:off x="1536192" y="2066544"/>
            <a:ext cx="7150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Gaussiano/mediana, normalización Macenko y CLAHE para estandarizar WSI de cualquier laboratorio, independiente de la tinción H&amp;E.</a:t>
            </a:r>
            <a:endParaRPr lang="en-US" sz="12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0CBFBBCA-CCED-5134-8DA3-DADEBFC055B3}"/>
              </a:ext>
            </a:extLst>
          </p:cNvPr>
          <p:cNvSpPr/>
          <p:nvPr/>
        </p:nvSpPr>
        <p:spPr>
          <a:xfrm>
            <a:off x="365760" y="3044952"/>
            <a:ext cx="8412480" cy="13258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B0E3F6D1-3357-A2DF-9433-BB366E26488C}"/>
              </a:ext>
            </a:extLst>
          </p:cNvPr>
          <p:cNvSpPr/>
          <p:nvPr/>
        </p:nvSpPr>
        <p:spPr>
          <a:xfrm>
            <a:off x="365760" y="3044952"/>
            <a:ext cx="438912" cy="13258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76DAD585-8169-9FE6-E66B-668D5B54D9A1}"/>
              </a:ext>
            </a:extLst>
          </p:cNvPr>
          <p:cNvSpPr/>
          <p:nvPr/>
        </p:nvSpPr>
        <p:spPr>
          <a:xfrm>
            <a:off x="365760" y="3044952"/>
            <a:ext cx="438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OE2</a:t>
            </a:r>
            <a:endParaRPr lang="en-US" sz="1100" dirty="0"/>
          </a:p>
        </p:txBody>
      </p:sp>
      <p:pic>
        <p:nvPicPr>
          <p:cNvPr id="39" name="Image 1" descr="/home/claude/v2_media/icon5.png">
            <a:extLst>
              <a:ext uri="{FF2B5EF4-FFF2-40B4-BE49-F238E27FC236}">
                <a16:creationId xmlns:a16="http://schemas.microsoft.com/office/drawing/2014/main" id="{2EBC71D0-4153-483D-2D38-B7068146B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392424"/>
            <a:ext cx="475488" cy="475488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65A3A3CF-9DCD-3622-E2CA-DEDA8BD151D5}"/>
              </a:ext>
            </a:extLst>
          </p:cNvPr>
          <p:cNvSpPr/>
          <p:nvPr/>
        </p:nvSpPr>
        <p:spPr>
          <a:xfrm>
            <a:off x="1536192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automática por Aprendizaje Profundo</a:t>
            </a:r>
            <a:endParaRPr lang="en-US" sz="140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79E0B7D4-3BCC-B9D7-B6B2-397283264558}"/>
              </a:ext>
            </a:extLst>
          </p:cNvPr>
          <p:cNvSpPr/>
          <p:nvPr/>
        </p:nvSpPr>
        <p:spPr>
          <a:xfrm>
            <a:off x="6766560" y="3154680"/>
            <a:ext cx="192024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D610A980-05E1-FA1B-0026-E72FCEF7D9BA}"/>
              </a:ext>
            </a:extLst>
          </p:cNvPr>
          <p:cNvSpPr/>
          <p:nvPr/>
        </p:nvSpPr>
        <p:spPr>
          <a:xfrm>
            <a:off x="676656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&gt; 0.85  ·  IoU &gt; 0.75</a:t>
            </a:r>
            <a:endParaRPr lang="en-US" sz="10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1D2EB9E-7700-8349-42B0-2B9B301B9DDD}"/>
              </a:ext>
            </a:extLst>
          </p:cNvPr>
          <p:cNvSpPr/>
          <p:nvPr/>
        </p:nvSpPr>
        <p:spPr>
          <a:xfrm>
            <a:off x="1536192" y="3575304"/>
            <a:ext cx="7150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R-CNN con backbone ResNet-50 + FPN, entrenado con dataset CryoNuSeg para aislar cada fibra muscular de forma individual en la imagen.</a:t>
            </a:r>
            <a:endParaRPr lang="en-US" sz="12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10EC3A19-BEE7-3375-FFB6-0D41483EDE63}"/>
              </a:ext>
            </a:extLst>
          </p:cNvPr>
          <p:cNvSpPr/>
          <p:nvPr/>
        </p:nvSpPr>
        <p:spPr>
          <a:xfrm>
            <a:off x="365760" y="4553712"/>
            <a:ext cx="8412480" cy="13258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F5C26EEE-FB8B-4E9B-5602-C5179D4F2C1C}"/>
              </a:ext>
            </a:extLst>
          </p:cNvPr>
          <p:cNvSpPr/>
          <p:nvPr/>
        </p:nvSpPr>
        <p:spPr>
          <a:xfrm>
            <a:off x="365760" y="4553712"/>
            <a:ext cx="438912" cy="13258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264E5E45-7446-BE7F-9EBE-EB4BF2339E7B}"/>
              </a:ext>
            </a:extLst>
          </p:cNvPr>
          <p:cNvSpPr/>
          <p:nvPr/>
        </p:nvSpPr>
        <p:spPr>
          <a:xfrm>
            <a:off x="365760" y="4553712"/>
            <a:ext cx="438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</a:t>
            </a:r>
            <a:endParaRPr lang="en-US" sz="1100" dirty="0"/>
          </a:p>
        </p:txBody>
      </p:sp>
      <p:pic>
        <p:nvPicPr>
          <p:cNvPr id="47" name="Image 2" descr="/home/claude/v2_media/icon6.png">
            <a:extLst>
              <a:ext uri="{FF2B5EF4-FFF2-40B4-BE49-F238E27FC236}">
                <a16:creationId xmlns:a16="http://schemas.microsoft.com/office/drawing/2014/main" id="{8DBC23B5-CF43-4263-4B46-07765586B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901184"/>
            <a:ext cx="475488" cy="475488"/>
          </a:xfrm>
          <a:prstGeom prst="rect">
            <a:avLst/>
          </a:prstGeom>
        </p:spPr>
      </p:pic>
      <p:sp>
        <p:nvSpPr>
          <p:cNvPr id="48" name="Text 20">
            <a:extLst>
              <a:ext uri="{FF2B5EF4-FFF2-40B4-BE49-F238E27FC236}">
                <a16:creationId xmlns:a16="http://schemas.microsoft.com/office/drawing/2014/main" id="{E2F330AF-C5AD-5A58-7058-BE566013F569}"/>
              </a:ext>
            </a:extLst>
          </p:cNvPr>
          <p:cNvSpPr/>
          <p:nvPr/>
        </p:nvSpPr>
        <p:spPr>
          <a:xfrm>
            <a:off x="1536192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características morfológicas por fibra</a:t>
            </a:r>
            <a:endParaRPr lang="en-US" sz="140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04E079DB-9F27-3AE2-511A-3A8339D5CE84}"/>
              </a:ext>
            </a:extLst>
          </p:cNvPr>
          <p:cNvSpPr/>
          <p:nvPr/>
        </p:nvSpPr>
        <p:spPr>
          <a:xfrm>
            <a:off x="6766560" y="4663440"/>
            <a:ext cx="192024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DE95DC8E-EF4F-4202-816C-B022F06CA59E}"/>
              </a:ext>
            </a:extLst>
          </p:cNvPr>
          <p:cNvSpPr/>
          <p:nvPr/>
        </p:nvSpPr>
        <p:spPr>
          <a:xfrm>
            <a:off x="6766560" y="4663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relativo &lt; 5%</a:t>
            </a:r>
            <a:endParaRPr lang="en-US" sz="10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27FA873F-A3A0-0CB8-E858-1FE677957338}"/>
              </a:ext>
            </a:extLst>
          </p:cNvPr>
          <p:cNvSpPr/>
          <p:nvPr/>
        </p:nvSpPr>
        <p:spPr>
          <a:xfrm>
            <a:off x="1536192" y="5084064"/>
            <a:ext cx="7150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Área, perímetro, circularidad, diámetro de Feret y densidad tisular calculados desde las máscaras de segmentación para cada fibra identificada.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 · OBJETIVOS ESPECÍFICOS — Objetivos 4–6: Orientación RL, Validación, GUI</a:t>
            </a:r>
            <a:endParaRPr lang="en-US" sz="22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93BB2492-E555-0922-BC1C-D603FBDACA6F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1F3A3534-49B9-C20B-B0F6-1FB3DCFCA91D}"/>
              </a:ext>
            </a:extLst>
          </p:cNvPr>
          <p:cNvSpPr/>
          <p:nvPr/>
        </p:nvSpPr>
        <p:spPr>
          <a:xfrm>
            <a:off x="365760" y="1481328"/>
            <a:ext cx="8412480" cy="13258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DE85ADC-0EAE-5524-61F4-8E0FB4192FAB}"/>
              </a:ext>
            </a:extLst>
          </p:cNvPr>
          <p:cNvSpPr/>
          <p:nvPr/>
        </p:nvSpPr>
        <p:spPr>
          <a:xfrm>
            <a:off x="365760" y="1481328"/>
            <a:ext cx="438912" cy="13258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6093A1C-33AB-A4AC-4E25-4C4361803A35}"/>
              </a:ext>
            </a:extLst>
          </p:cNvPr>
          <p:cNvSpPr/>
          <p:nvPr/>
        </p:nvSpPr>
        <p:spPr>
          <a:xfrm>
            <a:off x="365760" y="1481328"/>
            <a:ext cx="438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OE4</a:t>
            </a:r>
            <a:endParaRPr lang="en-US" sz="1100" dirty="0"/>
          </a:p>
        </p:txBody>
      </p:sp>
      <p:pic>
        <p:nvPicPr>
          <p:cNvPr id="31" name="Image 0" descr="/home/claude/v2_media/icon7.png">
            <a:extLst>
              <a:ext uri="{FF2B5EF4-FFF2-40B4-BE49-F238E27FC236}">
                <a16:creationId xmlns:a16="http://schemas.microsoft.com/office/drawing/2014/main" id="{40FA5BCB-29AB-24C8-37B2-2E0D64346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28800"/>
            <a:ext cx="475488" cy="475488"/>
          </a:xfrm>
          <a:prstGeom prst="rect">
            <a:avLst/>
          </a:prstGeom>
        </p:spPr>
      </p:pic>
      <p:sp>
        <p:nvSpPr>
          <p:cNvPr id="32" name="Text 6">
            <a:extLst>
              <a:ext uri="{FF2B5EF4-FFF2-40B4-BE49-F238E27FC236}">
                <a16:creationId xmlns:a16="http://schemas.microsoft.com/office/drawing/2014/main" id="{341CEA6D-3030-8414-DAB9-125BD561E60A}"/>
              </a:ext>
            </a:extLst>
          </p:cNvPr>
          <p:cNvSpPr/>
          <p:nvPr/>
        </p:nvSpPr>
        <p:spPr>
          <a:xfrm>
            <a:off x="1536192" y="15910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RL para estimación de orientación angular</a:t>
            </a:r>
            <a:endParaRPr lang="en-US" sz="140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26973CB8-302F-D46B-3E90-2F981D24FE2A}"/>
              </a:ext>
            </a:extLst>
          </p:cNvPr>
          <p:cNvSpPr/>
          <p:nvPr/>
        </p:nvSpPr>
        <p:spPr>
          <a:xfrm>
            <a:off x="6766560" y="1591056"/>
            <a:ext cx="192024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9C2AD187-4024-0F8E-CFCB-D5E3FB129F12}"/>
              </a:ext>
            </a:extLst>
          </p:cNvPr>
          <p:cNvSpPr/>
          <p:nvPr/>
        </p:nvSpPr>
        <p:spPr>
          <a:xfrm>
            <a:off x="6766560" y="1591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angular &lt; 5°</a:t>
            </a:r>
            <a:endParaRPr lang="en-US" sz="10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592D6E82-B1F1-D820-1A63-0D4C9BFE016A}"/>
              </a:ext>
            </a:extLst>
          </p:cNvPr>
          <p:cNvSpPr/>
          <p:nvPr/>
        </p:nvSpPr>
        <p:spPr>
          <a:xfrm>
            <a:off x="1536192" y="2011680"/>
            <a:ext cx="7150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DQN/PPO entrenado con imágenes sintéticas (0°–180°) optimiza la detección del vector angular de cada fibra sin necesidad de tomografía costosa.</a:t>
            </a:r>
            <a:endParaRPr lang="en-US" sz="12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3E003035-29F8-5EBF-5647-8F785D604FEA}"/>
              </a:ext>
            </a:extLst>
          </p:cNvPr>
          <p:cNvSpPr/>
          <p:nvPr/>
        </p:nvSpPr>
        <p:spPr>
          <a:xfrm>
            <a:off x="365760" y="2990088"/>
            <a:ext cx="8412480" cy="13258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9E91591A-F22D-09A7-17B8-7E15517D12CC}"/>
              </a:ext>
            </a:extLst>
          </p:cNvPr>
          <p:cNvSpPr/>
          <p:nvPr/>
        </p:nvSpPr>
        <p:spPr>
          <a:xfrm>
            <a:off x="365760" y="2990088"/>
            <a:ext cx="438912" cy="13258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09422B3A-E0B8-6C5A-06C2-C0E3D62E2E5F}"/>
              </a:ext>
            </a:extLst>
          </p:cNvPr>
          <p:cNvSpPr/>
          <p:nvPr/>
        </p:nvSpPr>
        <p:spPr>
          <a:xfrm>
            <a:off x="365760" y="2990088"/>
            <a:ext cx="438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OE5</a:t>
            </a:r>
            <a:endParaRPr lang="en-US" sz="1100" dirty="0"/>
          </a:p>
        </p:txBody>
      </p:sp>
      <p:pic>
        <p:nvPicPr>
          <p:cNvPr id="39" name="Image 1" descr="/home/claude/v2_media/icon8.png">
            <a:extLst>
              <a:ext uri="{FF2B5EF4-FFF2-40B4-BE49-F238E27FC236}">
                <a16:creationId xmlns:a16="http://schemas.microsoft.com/office/drawing/2014/main" id="{F76217D8-E561-A64F-8027-EC7A7B69E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337560"/>
            <a:ext cx="475488" cy="475488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6154A3D6-5F1D-828C-3204-DAFEDFD08F86}"/>
              </a:ext>
            </a:extLst>
          </p:cNvPr>
          <p:cNvSpPr/>
          <p:nvPr/>
        </p:nvSpPr>
        <p:spPr>
          <a:xfrm>
            <a:off x="1536192" y="30998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experimental comparativa completa</a:t>
            </a:r>
            <a:endParaRPr lang="en-US" sz="140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3559097C-EF0B-7D63-178E-79B7BFC62893}"/>
              </a:ext>
            </a:extLst>
          </p:cNvPr>
          <p:cNvSpPr/>
          <p:nvPr/>
        </p:nvSpPr>
        <p:spPr>
          <a:xfrm>
            <a:off x="6766560" y="3099816"/>
            <a:ext cx="192024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4F836304-A4FF-45C4-B53F-9582113A49EB}"/>
              </a:ext>
            </a:extLst>
          </p:cNvPr>
          <p:cNvSpPr/>
          <p:nvPr/>
        </p:nvSpPr>
        <p:spPr>
          <a:xfrm>
            <a:off x="6766560" y="30998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Dice, IoU, MAE, t-test</a:t>
            </a:r>
            <a:endParaRPr lang="en-US" sz="10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C905F636-706D-DDED-DF48-9DDF35B71DAC}"/>
              </a:ext>
            </a:extLst>
          </p:cNvPr>
          <p:cNvSpPr/>
          <p:nvPr/>
        </p:nvSpPr>
        <p:spPr>
          <a:xfrm>
            <a:off x="1536192" y="3520440"/>
            <a:ext cx="7150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controlado que compara el sistema vs. conteo manual experto y herramientas de referencia (MyoSAT, Charisma). Análisis estadístico con pruebas t y ANOVA.</a:t>
            </a:r>
            <a:endParaRPr lang="en-US" sz="12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91C90E5A-119C-19F0-E86B-DD63D071F604}"/>
              </a:ext>
            </a:extLst>
          </p:cNvPr>
          <p:cNvSpPr/>
          <p:nvPr/>
        </p:nvSpPr>
        <p:spPr>
          <a:xfrm>
            <a:off x="365760" y="4498848"/>
            <a:ext cx="8412480" cy="13258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6BF3DC39-254A-8044-AD76-EBE6EF729313}"/>
              </a:ext>
            </a:extLst>
          </p:cNvPr>
          <p:cNvSpPr/>
          <p:nvPr/>
        </p:nvSpPr>
        <p:spPr>
          <a:xfrm>
            <a:off x="365760" y="4498848"/>
            <a:ext cx="438912" cy="13258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101366F7-BE98-3AA5-B849-E287D84D786E}"/>
              </a:ext>
            </a:extLst>
          </p:cNvPr>
          <p:cNvSpPr/>
          <p:nvPr/>
        </p:nvSpPr>
        <p:spPr>
          <a:xfrm>
            <a:off x="365760" y="4498848"/>
            <a:ext cx="438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OE6</a:t>
            </a:r>
            <a:endParaRPr lang="en-US" sz="1100" dirty="0"/>
          </a:p>
        </p:txBody>
      </p:sp>
      <p:pic>
        <p:nvPicPr>
          <p:cNvPr id="47" name="Image 2" descr="/home/claude/v2_media/icon9.png">
            <a:extLst>
              <a:ext uri="{FF2B5EF4-FFF2-40B4-BE49-F238E27FC236}">
                <a16:creationId xmlns:a16="http://schemas.microsoft.com/office/drawing/2014/main" id="{EE64CAD3-3051-5971-047E-4E1A03B89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46320"/>
            <a:ext cx="475488" cy="475488"/>
          </a:xfrm>
          <a:prstGeom prst="rect">
            <a:avLst/>
          </a:prstGeom>
        </p:spPr>
      </p:pic>
      <p:sp>
        <p:nvSpPr>
          <p:cNvPr id="48" name="Text 20">
            <a:extLst>
              <a:ext uri="{FF2B5EF4-FFF2-40B4-BE49-F238E27FC236}">
                <a16:creationId xmlns:a16="http://schemas.microsoft.com/office/drawing/2014/main" id="{7475CDB9-C441-E7B7-6D07-8C38D59A3D01}"/>
              </a:ext>
            </a:extLst>
          </p:cNvPr>
          <p:cNvSpPr/>
          <p:nvPr/>
        </p:nvSpPr>
        <p:spPr>
          <a:xfrm>
            <a:off x="1536192" y="46085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gráfica de usuario (GUI) de escritorio</a:t>
            </a:r>
            <a:endParaRPr lang="en-US" sz="140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9AAE94B0-C99A-91BF-9DBB-E89BF4806710}"/>
              </a:ext>
            </a:extLst>
          </p:cNvPr>
          <p:cNvSpPr/>
          <p:nvPr/>
        </p:nvSpPr>
        <p:spPr>
          <a:xfrm>
            <a:off x="6766560" y="4608576"/>
            <a:ext cx="192024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02BF7A86-4D7C-C298-D030-4C8495F1BF04}"/>
              </a:ext>
            </a:extLst>
          </p:cNvPr>
          <p:cNvSpPr/>
          <p:nvPr/>
        </p:nvSpPr>
        <p:spPr>
          <a:xfrm>
            <a:off x="6766560" y="46085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≥ 70/100</a:t>
            </a:r>
            <a:endParaRPr lang="en-US" sz="10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BB025726-E221-36E5-B2AA-6D64C0DBC7E5}"/>
              </a:ext>
            </a:extLst>
          </p:cNvPr>
          <p:cNvSpPr/>
          <p:nvPr/>
        </p:nvSpPr>
        <p:spPr>
          <a:xfrm>
            <a:off x="1536192" y="5029200"/>
            <a:ext cx="7150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escritorio con Tkinter+ttkbootstrap: carga de WSI, visualización de máscaras, panel de métricas y exportación de resultados en CSV y PDF.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 · DESIGN THINKING — EMPATIZAR — Perfiles de usuario y pain points</a:t>
            </a:r>
            <a:endParaRPr lang="en-US" sz="22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1E6A8CA7-261F-6703-F405-99535AFBFE54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E216D35E-34AA-A7B6-E55A-D21E077670C7}"/>
              </a:ext>
            </a:extLst>
          </p:cNvPr>
          <p:cNvSpPr/>
          <p:nvPr/>
        </p:nvSpPr>
        <p:spPr>
          <a:xfrm>
            <a:off x="384048" y="108813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¿Quiénes usan este tipo de herramienta y qué les frustra?</a:t>
            </a:r>
            <a:endParaRPr lang="en-US" sz="22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3A7A5E86-3E17-3F44-1AB2-A05D00DC0DEC}"/>
              </a:ext>
            </a:extLst>
          </p:cNvPr>
          <p:cNvSpPr/>
          <p:nvPr/>
        </p:nvSpPr>
        <p:spPr>
          <a:xfrm>
            <a:off x="246888" y="15636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Investigadores de biología celular</a:t>
            </a:r>
            <a:endParaRPr lang="en-US" sz="13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AB9F76CC-9CF4-888F-A068-447C30E6C32B}"/>
              </a:ext>
            </a:extLst>
          </p:cNvPr>
          <p:cNvSpPr/>
          <p:nvPr/>
        </p:nvSpPr>
        <p:spPr>
          <a:xfrm>
            <a:off x="3264408" y="1664208"/>
            <a:ext cx="5303520" cy="274320"/>
          </a:xfrm>
          <a:prstGeom prst="rect">
            <a:avLst/>
          </a:prstGeom>
          <a:solidFill>
            <a:srgbClr val="E5EF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16FF28B5-B0E0-89B3-0C43-87C610CACD3A}"/>
              </a:ext>
            </a:extLst>
          </p:cNvPr>
          <p:cNvSpPr/>
          <p:nvPr/>
        </p:nvSpPr>
        <p:spPr>
          <a:xfrm>
            <a:off x="3264408" y="1664208"/>
            <a:ext cx="1856232" cy="27432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83A3900A-606B-FA8E-A27E-CE06FA675A19}"/>
              </a:ext>
            </a:extLst>
          </p:cNvPr>
          <p:cNvSpPr/>
          <p:nvPr/>
        </p:nvSpPr>
        <p:spPr>
          <a:xfrm>
            <a:off x="5212080" y="156362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35%</a:t>
            </a:r>
            <a:endParaRPr lang="en-US" sz="13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2EA90D28-8AFB-7CCD-2082-CCA6187380E9}"/>
              </a:ext>
            </a:extLst>
          </p:cNvPr>
          <p:cNvSpPr/>
          <p:nvPr/>
        </p:nvSpPr>
        <p:spPr>
          <a:xfrm>
            <a:off x="246888" y="23225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posgrado</a:t>
            </a:r>
            <a:endParaRPr lang="en-US" sz="130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6DFA4687-8F4F-0348-1470-AF7425B1CF55}"/>
              </a:ext>
            </a:extLst>
          </p:cNvPr>
          <p:cNvSpPr/>
          <p:nvPr/>
        </p:nvSpPr>
        <p:spPr>
          <a:xfrm>
            <a:off x="3264408" y="2423160"/>
            <a:ext cx="5303520" cy="274320"/>
          </a:xfrm>
          <a:prstGeom prst="rect">
            <a:avLst/>
          </a:prstGeom>
          <a:solidFill>
            <a:srgbClr val="E5EF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81422298-2300-0A43-373B-A9A373215791}"/>
              </a:ext>
            </a:extLst>
          </p:cNvPr>
          <p:cNvSpPr/>
          <p:nvPr/>
        </p:nvSpPr>
        <p:spPr>
          <a:xfrm>
            <a:off x="3264408" y="2423160"/>
            <a:ext cx="1325880" cy="274320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369ECC42-ED60-28FD-CF78-60CDD3F99BF8}"/>
              </a:ext>
            </a:extLst>
          </p:cNvPr>
          <p:cNvSpPr/>
          <p:nvPr/>
        </p:nvSpPr>
        <p:spPr>
          <a:xfrm>
            <a:off x="4681728" y="232257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9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25%</a:t>
            </a:r>
            <a:endParaRPr lang="en-US" sz="13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AA4A5098-A232-3120-5CCE-92C00CFF52FC}"/>
              </a:ext>
            </a:extLst>
          </p:cNvPr>
          <p:cNvSpPr/>
          <p:nvPr/>
        </p:nvSpPr>
        <p:spPr>
          <a:xfrm>
            <a:off x="246888" y="308152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Técnicos de laboratorio</a:t>
            </a:r>
            <a:endParaRPr lang="en-US" sz="130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5FAA186B-7247-5D35-1984-718FB170FDAB}"/>
              </a:ext>
            </a:extLst>
          </p:cNvPr>
          <p:cNvSpPr/>
          <p:nvPr/>
        </p:nvSpPr>
        <p:spPr>
          <a:xfrm>
            <a:off x="3264408" y="3182112"/>
            <a:ext cx="5303520" cy="274320"/>
          </a:xfrm>
          <a:prstGeom prst="rect">
            <a:avLst/>
          </a:prstGeom>
          <a:solidFill>
            <a:srgbClr val="E5EF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A8F23010-5334-539E-8CEF-8DAEF28B77BD}"/>
              </a:ext>
            </a:extLst>
          </p:cNvPr>
          <p:cNvSpPr/>
          <p:nvPr/>
        </p:nvSpPr>
        <p:spPr>
          <a:xfrm>
            <a:off x="3264408" y="3182112"/>
            <a:ext cx="1060704" cy="274320"/>
          </a:xfrm>
          <a:prstGeom prst="rect">
            <a:avLst/>
          </a:prstGeom>
          <a:solidFill>
            <a:srgbClr val="00B4C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FCFA2ADE-C100-BEE8-3BDF-6864648ECC18}"/>
              </a:ext>
            </a:extLst>
          </p:cNvPr>
          <p:cNvSpPr/>
          <p:nvPr/>
        </p:nvSpPr>
        <p:spPr>
          <a:xfrm>
            <a:off x="4416552" y="308152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3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98A6D889-6BF2-7AB6-2DE0-FEFEE6BD65AB}"/>
              </a:ext>
            </a:extLst>
          </p:cNvPr>
          <p:cNvSpPr/>
          <p:nvPr/>
        </p:nvSpPr>
        <p:spPr>
          <a:xfrm>
            <a:off x="246888" y="38404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patólogos</a:t>
            </a:r>
            <a:endParaRPr lang="en-US" sz="130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76D49B3C-E7A0-6D7F-CC32-0D5E66C91EF9}"/>
              </a:ext>
            </a:extLst>
          </p:cNvPr>
          <p:cNvSpPr/>
          <p:nvPr/>
        </p:nvSpPr>
        <p:spPr>
          <a:xfrm>
            <a:off x="3264408" y="3941064"/>
            <a:ext cx="5303520" cy="274320"/>
          </a:xfrm>
          <a:prstGeom prst="rect">
            <a:avLst/>
          </a:prstGeom>
          <a:solidFill>
            <a:srgbClr val="E5EF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48FBACBF-7AEA-E37F-6731-D7B7422F1EF2}"/>
              </a:ext>
            </a:extLst>
          </p:cNvPr>
          <p:cNvSpPr/>
          <p:nvPr/>
        </p:nvSpPr>
        <p:spPr>
          <a:xfrm>
            <a:off x="3264408" y="3941064"/>
            <a:ext cx="636422" cy="274320"/>
          </a:xfrm>
          <a:prstGeom prst="rect">
            <a:avLst/>
          </a:prstGeom>
          <a:solidFill>
            <a:srgbClr val="E07B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7F7A2A51-C9E6-2A92-7E29-93F7E441AC17}"/>
              </a:ext>
            </a:extLst>
          </p:cNvPr>
          <p:cNvSpPr/>
          <p:nvPr/>
        </p:nvSpPr>
        <p:spPr>
          <a:xfrm>
            <a:off x="3992270" y="38404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12%</a:t>
            </a:r>
            <a:endParaRPr lang="en-US" sz="13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0608A5BD-D427-7D38-9079-45C82545A54B}"/>
              </a:ext>
            </a:extLst>
          </p:cNvPr>
          <p:cNvSpPr/>
          <p:nvPr/>
        </p:nvSpPr>
        <p:spPr>
          <a:xfrm>
            <a:off x="246888" y="45994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Profesores e investigadores</a:t>
            </a:r>
            <a:endParaRPr lang="en-US" sz="1300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A9646CA7-A9A0-2322-2925-83C4C677BADB}"/>
              </a:ext>
            </a:extLst>
          </p:cNvPr>
          <p:cNvSpPr/>
          <p:nvPr/>
        </p:nvSpPr>
        <p:spPr>
          <a:xfrm>
            <a:off x="3264408" y="4700016"/>
            <a:ext cx="5303520" cy="274320"/>
          </a:xfrm>
          <a:prstGeom prst="rect">
            <a:avLst/>
          </a:prstGeom>
          <a:solidFill>
            <a:srgbClr val="E5EF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F5C2B5C5-8096-EC03-CA28-0FA1525E84F9}"/>
              </a:ext>
            </a:extLst>
          </p:cNvPr>
          <p:cNvSpPr/>
          <p:nvPr/>
        </p:nvSpPr>
        <p:spPr>
          <a:xfrm>
            <a:off x="3264408" y="4700016"/>
            <a:ext cx="424282" cy="274320"/>
          </a:xfrm>
          <a:prstGeom prst="rect">
            <a:avLst/>
          </a:prstGeom>
          <a:solidFill>
            <a:srgbClr val="7A8A9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60139367-48C4-5B4D-7E15-6D406DC2895B}"/>
              </a:ext>
            </a:extLst>
          </p:cNvPr>
          <p:cNvSpPr/>
          <p:nvPr/>
        </p:nvSpPr>
        <p:spPr>
          <a:xfrm>
            <a:off x="3780130" y="459943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A9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8%</a:t>
            </a:r>
            <a:endParaRPr lang="en-US" sz="130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5F67E2A1-BA5F-0434-3FED-326E7497AD94}"/>
              </a:ext>
            </a:extLst>
          </p:cNvPr>
          <p:cNvSpPr/>
          <p:nvPr/>
        </p:nvSpPr>
        <p:spPr>
          <a:xfrm>
            <a:off x="246888" y="5440680"/>
            <a:ext cx="8503920" cy="45720"/>
          </a:xfrm>
          <a:prstGeom prst="rect">
            <a:avLst/>
          </a:prstGeom>
          <a:solidFill>
            <a:srgbClr val="DDF0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81FFA3CD-31A7-2C88-AE26-6D98F902E03F}"/>
              </a:ext>
            </a:extLst>
          </p:cNvPr>
          <p:cNvSpPr/>
          <p:nvPr/>
        </p:nvSpPr>
        <p:spPr>
          <a:xfrm>
            <a:off x="246888" y="55504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pain points según revisión sistemática de 45 artículos (2020–2026) · Sandford et al. (2024), N=446</a:t>
            </a:r>
            <a:endParaRPr lang="en-US" sz="1000" dirty="0"/>
          </a:p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C630EFBB-FBFC-A3E1-C259-46C7CFD1F715}"/>
              </a:ext>
            </a:extLst>
          </p:cNvPr>
          <p:cNvSpPr/>
          <p:nvPr/>
        </p:nvSpPr>
        <p:spPr>
          <a:xfrm>
            <a:off x="246888" y="5806440"/>
            <a:ext cx="201168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E95F8CB-DA64-7AB1-10E7-BB453CA70650}"/>
              </a:ext>
            </a:extLst>
          </p:cNvPr>
          <p:cNvSpPr/>
          <p:nvPr/>
        </p:nvSpPr>
        <p:spPr>
          <a:xfrm>
            <a:off x="320040" y="5806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 Tiempo excesivo</a:t>
            </a:r>
            <a:endParaRPr lang="en-US" sz="1000" dirty="0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0AE769F3-CB96-C410-D1B6-6E2919DD577F}"/>
              </a:ext>
            </a:extLst>
          </p:cNvPr>
          <p:cNvSpPr/>
          <p:nvPr/>
        </p:nvSpPr>
        <p:spPr>
          <a:xfrm>
            <a:off x="2331720" y="5806440"/>
            <a:ext cx="201168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BAF4CEA3-61BD-EE6A-A7B3-EE4E6ED7046E}"/>
              </a:ext>
            </a:extLst>
          </p:cNvPr>
          <p:cNvSpPr/>
          <p:nvPr/>
        </p:nvSpPr>
        <p:spPr>
          <a:xfrm>
            <a:off x="2404872" y="5806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 Variabilidad inter-observador</a:t>
            </a:r>
            <a:endParaRPr lang="en-US" sz="100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66BB72C9-C52A-AC0E-C932-49D32727CC2B}"/>
              </a:ext>
            </a:extLst>
          </p:cNvPr>
          <p:cNvSpPr/>
          <p:nvPr/>
        </p:nvSpPr>
        <p:spPr>
          <a:xfrm>
            <a:off x="4416552" y="5806440"/>
            <a:ext cx="201168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0F93AA59-3072-7B14-65B1-253361DB9479}"/>
              </a:ext>
            </a:extLst>
          </p:cNvPr>
          <p:cNvSpPr/>
          <p:nvPr/>
        </p:nvSpPr>
        <p:spPr>
          <a:xfrm>
            <a:off x="4489704" y="5806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 Sin soporte WSI</a:t>
            </a:r>
            <a:endParaRPr lang="en-US" sz="1000" dirty="0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57122EAE-A2DE-2762-5DE2-038FE808A031}"/>
              </a:ext>
            </a:extLst>
          </p:cNvPr>
          <p:cNvSpPr/>
          <p:nvPr/>
        </p:nvSpPr>
        <p:spPr>
          <a:xfrm>
            <a:off x="6501384" y="5806440"/>
            <a:ext cx="2011680" cy="347472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CCFF7DBE-8ED3-3C53-7E75-46A4C8E288E0}"/>
              </a:ext>
            </a:extLst>
          </p:cNvPr>
          <p:cNvSpPr/>
          <p:nvPr/>
        </p:nvSpPr>
        <p:spPr>
          <a:xfrm>
            <a:off x="6574536" y="5806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 Ajuste manual requerido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06 · DESIGN THINKING — DEFINIR — Implicaciones de diseño</a:t>
            </a:r>
            <a:endParaRPr lang="en-US" sz="24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6C7341E1-080D-7C93-1AAF-EBBFB7FFDC76}"/>
              </a:ext>
            </a:extLst>
          </p:cNvPr>
          <p:cNvSpPr/>
          <p:nvPr/>
        </p:nvSpPr>
        <p:spPr>
          <a:xfrm>
            <a:off x="0" y="807699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AF90966A-8B2A-7C72-CCE5-0EE1EECEC449}"/>
              </a:ext>
            </a:extLst>
          </p:cNvPr>
          <p:cNvSpPr/>
          <p:nvPr/>
        </p:nvSpPr>
        <p:spPr>
          <a:xfrm>
            <a:off x="274320" y="1627632"/>
            <a:ext cx="8412480" cy="1207008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2777A392-C37A-719B-E0C6-F183A1749C0A}"/>
              </a:ext>
            </a:extLst>
          </p:cNvPr>
          <p:cNvSpPr/>
          <p:nvPr/>
        </p:nvSpPr>
        <p:spPr>
          <a:xfrm>
            <a:off x="274320" y="1627632"/>
            <a:ext cx="475488" cy="1207008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90D4EADD-9438-00DD-8CB8-5166B93A5C9D}"/>
              </a:ext>
            </a:extLst>
          </p:cNvPr>
          <p:cNvSpPr/>
          <p:nvPr/>
        </p:nvSpPr>
        <p:spPr>
          <a:xfrm>
            <a:off x="274320" y="1627632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A45872B2-682D-7930-A424-59A617B1C8FE}"/>
              </a:ext>
            </a:extLst>
          </p:cNvPr>
          <p:cNvSpPr/>
          <p:nvPr/>
        </p:nvSpPr>
        <p:spPr>
          <a:xfrm>
            <a:off x="868680" y="173736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end-to-end</a:t>
            </a:r>
            <a:endParaRPr lang="en-US" sz="15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BBCCDA3-1CCB-C1E9-4E27-FAE09059A4B7}"/>
              </a:ext>
            </a:extLst>
          </p:cNvPr>
          <p:cNvSpPr/>
          <p:nvPr/>
        </p:nvSpPr>
        <p:spPr>
          <a:xfrm>
            <a:off x="868680" y="2139696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carga la imagen y recibe resultados sin configurar ningún parámetro. Priorizamos el flujo completo sobre la optimización de módulos individuales.</a:t>
            </a:r>
            <a:endParaRPr lang="en-US" sz="125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695F26C7-5402-278D-F72C-941048E8806F}"/>
              </a:ext>
            </a:extLst>
          </p:cNvPr>
          <p:cNvSpPr/>
          <p:nvPr/>
        </p:nvSpPr>
        <p:spPr>
          <a:xfrm>
            <a:off x="274320" y="3108960"/>
            <a:ext cx="8412480" cy="1207008"/>
          </a:xfrm>
          <a:prstGeom prst="rect">
            <a:avLst/>
          </a:prstGeom>
          <a:solidFill>
            <a:srgbClr val="E8F6FD"/>
          </a:solidFill>
          <a:ln w="12700">
            <a:solidFill>
              <a:srgbClr val="006B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09B6BE6B-7105-6677-2A34-5E240A6031CB}"/>
              </a:ext>
            </a:extLst>
          </p:cNvPr>
          <p:cNvSpPr/>
          <p:nvPr/>
        </p:nvSpPr>
        <p:spPr>
          <a:xfrm>
            <a:off x="274320" y="3108960"/>
            <a:ext cx="475488" cy="1207008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DA2258B7-6287-635F-BEBE-1812D0EDE04D}"/>
              </a:ext>
            </a:extLst>
          </p:cNvPr>
          <p:cNvSpPr/>
          <p:nvPr/>
        </p:nvSpPr>
        <p:spPr>
          <a:xfrm>
            <a:off x="274320" y="3108960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4A7959AE-0D47-D9AF-949E-B1216AE0954C}"/>
              </a:ext>
            </a:extLst>
          </p:cNvPr>
          <p:cNvSpPr/>
          <p:nvPr/>
        </p:nvSpPr>
        <p:spPr>
          <a:xfrm>
            <a:off x="868680" y="3218688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 para el menor nivel de expertise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2909432-1BEC-FD29-D392-F90C12B5873D}"/>
              </a:ext>
            </a:extLst>
          </p:cNvPr>
          <p:cNvSpPr/>
          <p:nvPr/>
        </p:nvSpPr>
        <p:spPr>
          <a:xfrm>
            <a:off x="868680" y="3621024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técnico de laboratorio puede operarlo sin capacitación, los investigadores y patólogos lo adoptarán sin fricción. La interfaz más simple gana.</a:t>
            </a:r>
            <a:endParaRPr lang="en-US" sz="125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AA8D031A-6065-3371-760B-6DA1FCB9AF23}"/>
              </a:ext>
            </a:extLst>
          </p:cNvPr>
          <p:cNvSpPr/>
          <p:nvPr/>
        </p:nvSpPr>
        <p:spPr>
          <a:xfrm>
            <a:off x="274320" y="4590288"/>
            <a:ext cx="8412480" cy="1207008"/>
          </a:xfrm>
          <a:prstGeom prst="rect">
            <a:avLst/>
          </a:prstGeom>
          <a:solidFill>
            <a:srgbClr val="E8F6FD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DBAA63D4-7E0E-BCC2-13A2-93A742224FBD}"/>
              </a:ext>
            </a:extLst>
          </p:cNvPr>
          <p:cNvSpPr/>
          <p:nvPr/>
        </p:nvSpPr>
        <p:spPr>
          <a:xfrm>
            <a:off x="274320" y="4590288"/>
            <a:ext cx="475488" cy="1207008"/>
          </a:xfrm>
          <a:prstGeom prst="rect">
            <a:avLst/>
          </a:prstGeom>
          <a:solidFill>
            <a:srgbClr val="00B4C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AEC8679-EB82-5933-4B64-5E12645054AD}"/>
              </a:ext>
            </a:extLst>
          </p:cNvPr>
          <p:cNvSpPr/>
          <p:nvPr/>
        </p:nvSpPr>
        <p:spPr>
          <a:xfrm>
            <a:off x="274320" y="4590288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B5733900-67FF-16F7-3D23-747E94E3CA63}"/>
              </a:ext>
            </a:extLst>
          </p:cNvPr>
          <p:cNvSpPr/>
          <p:nvPr/>
        </p:nvSpPr>
        <p:spPr>
          <a:xfrm>
            <a:off x="868680" y="4700016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orientación angular como diferenciador único</a:t>
            </a:r>
            <a:endParaRPr lang="en-US" sz="15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6CEF6A6A-0328-C46F-BC32-5F4B135EC6F6}"/>
              </a:ext>
            </a:extLst>
          </p:cNvPr>
          <p:cNvSpPr/>
          <p:nvPr/>
        </p:nvSpPr>
        <p:spPr>
          <a:xfrm>
            <a:off x="868680" y="5102352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módulo RL de orientación angular está ausente en toda herramienta existente. Es la razón principal que justifica construir un sistema nuevo desde cero.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07 · ARQUITECTURA DEL SISTEMA — Pipeline de Procesamiento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484632" y="4355683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84632" y="4630003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 ·  PyTorch / Detectron2  ·  OpenCV  ·  Scikit-Image  ·  NumPy  ·  Tkinter + ttkbootstrap  ·  ReportLab</a:t>
            </a:r>
            <a:endParaRPr lang="en-US" sz="120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95C604C6-BD30-5144-21C5-9E0F59693C7E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D750AAD7-4584-5FBE-13CA-BEBBB7D5AEB6}"/>
              </a:ext>
            </a:extLst>
          </p:cNvPr>
          <p:cNvSpPr/>
          <p:nvPr/>
        </p:nvSpPr>
        <p:spPr>
          <a:xfrm>
            <a:off x="603504" y="122072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Pipeline de 6 etapas: SmartCell AI Analysis Studio</a:t>
            </a:r>
            <a:endParaRPr lang="en-US" sz="22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A169B354-600D-75EA-5349-11976E2B88D8}"/>
              </a:ext>
            </a:extLst>
          </p:cNvPr>
          <p:cNvSpPr/>
          <p:nvPr/>
        </p:nvSpPr>
        <p:spPr>
          <a:xfrm>
            <a:off x="438912" y="1732788"/>
            <a:ext cx="1225296" cy="205740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DC0616B7-08C0-054F-AC4E-79695231074E}"/>
              </a:ext>
            </a:extLst>
          </p:cNvPr>
          <p:cNvSpPr/>
          <p:nvPr/>
        </p:nvSpPr>
        <p:spPr>
          <a:xfrm>
            <a:off x="438912" y="1732788"/>
            <a:ext cx="1225296" cy="64008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5" name="Image 0" descr="/home/claude/v2_media/icon10.png">
            <a:extLst>
              <a:ext uri="{FF2B5EF4-FFF2-40B4-BE49-F238E27FC236}">
                <a16:creationId xmlns:a16="http://schemas.microsoft.com/office/drawing/2014/main" id="{E0D6C1E2-00F6-D7D4-B184-DC09D8CC1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33956"/>
            <a:ext cx="640080" cy="640080"/>
          </a:xfrm>
          <a:prstGeom prst="rect">
            <a:avLst/>
          </a:prstGeom>
        </p:spPr>
      </p:pic>
      <p:sp>
        <p:nvSpPr>
          <p:cNvPr id="36" name="Text 5">
            <a:extLst>
              <a:ext uri="{FF2B5EF4-FFF2-40B4-BE49-F238E27FC236}">
                <a16:creationId xmlns:a16="http://schemas.microsoft.com/office/drawing/2014/main" id="{8A4094C4-9B12-24A5-5626-4F1B3FE6A637}"/>
              </a:ext>
            </a:extLst>
          </p:cNvPr>
          <p:cNvSpPr/>
          <p:nvPr/>
        </p:nvSpPr>
        <p:spPr>
          <a:xfrm>
            <a:off x="438912" y="2692908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WSI</a:t>
            </a:r>
            <a:endParaRPr lang="en-US" sz="11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49C7B3B8-5FD5-8F8E-756C-FE0536D614B4}"/>
              </a:ext>
            </a:extLst>
          </p:cNvPr>
          <p:cNvSpPr/>
          <p:nvPr/>
        </p:nvSpPr>
        <p:spPr>
          <a:xfrm>
            <a:off x="1673352" y="2500884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AC7CA124-3F77-0DBB-9298-44735D7F315C}"/>
              </a:ext>
            </a:extLst>
          </p:cNvPr>
          <p:cNvSpPr/>
          <p:nvPr/>
        </p:nvSpPr>
        <p:spPr>
          <a:xfrm>
            <a:off x="1783080" y="1732788"/>
            <a:ext cx="1225296" cy="2057400"/>
          </a:xfrm>
          <a:prstGeom prst="rect">
            <a:avLst/>
          </a:prstGeom>
          <a:solidFill>
            <a:srgbClr val="E8F6FD"/>
          </a:solidFill>
          <a:ln w="12700">
            <a:solidFill>
              <a:srgbClr val="006B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1D6C5463-48B9-55AD-82AC-1F976C1DCA2B}"/>
              </a:ext>
            </a:extLst>
          </p:cNvPr>
          <p:cNvSpPr/>
          <p:nvPr/>
        </p:nvSpPr>
        <p:spPr>
          <a:xfrm>
            <a:off x="1783080" y="1732788"/>
            <a:ext cx="1225296" cy="64008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0" name="Image 1" descr="/home/claude/v2_media/icon11.png">
            <a:extLst>
              <a:ext uri="{FF2B5EF4-FFF2-40B4-BE49-F238E27FC236}">
                <a16:creationId xmlns:a16="http://schemas.microsoft.com/office/drawing/2014/main" id="{1219A511-19AD-0C5B-A09F-5669F5ABA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688" y="1933956"/>
            <a:ext cx="640080" cy="640080"/>
          </a:xfrm>
          <a:prstGeom prst="rect">
            <a:avLst/>
          </a:prstGeom>
        </p:spPr>
      </p:pic>
      <p:sp>
        <p:nvSpPr>
          <p:cNvPr id="41" name="Text 9">
            <a:extLst>
              <a:ext uri="{FF2B5EF4-FFF2-40B4-BE49-F238E27FC236}">
                <a16:creationId xmlns:a16="http://schemas.microsoft.com/office/drawing/2014/main" id="{B6AD55D9-6D4F-753B-F3F2-BF17BE67CB85}"/>
              </a:ext>
            </a:extLst>
          </p:cNvPr>
          <p:cNvSpPr/>
          <p:nvPr/>
        </p:nvSpPr>
        <p:spPr>
          <a:xfrm>
            <a:off x="1783080" y="2692908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</a:t>
            </a:r>
            <a:endParaRPr lang="en-US" sz="11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F3D45E93-0775-7B99-B865-F7CB778E743E}"/>
              </a:ext>
            </a:extLst>
          </p:cNvPr>
          <p:cNvSpPr/>
          <p:nvPr/>
        </p:nvSpPr>
        <p:spPr>
          <a:xfrm>
            <a:off x="3017520" y="2500884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6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49B3A0E1-D3A0-3FBB-3B84-930E44006866}"/>
              </a:ext>
            </a:extLst>
          </p:cNvPr>
          <p:cNvSpPr/>
          <p:nvPr/>
        </p:nvSpPr>
        <p:spPr>
          <a:xfrm>
            <a:off x="3127248" y="1732788"/>
            <a:ext cx="1225296" cy="2057400"/>
          </a:xfrm>
          <a:prstGeom prst="rect">
            <a:avLst/>
          </a:prstGeom>
          <a:solidFill>
            <a:srgbClr val="E8F6FD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0924A12C-EC22-4AE4-93ED-ED64C4964BF4}"/>
              </a:ext>
            </a:extLst>
          </p:cNvPr>
          <p:cNvSpPr/>
          <p:nvPr/>
        </p:nvSpPr>
        <p:spPr>
          <a:xfrm>
            <a:off x="3127248" y="1732788"/>
            <a:ext cx="1225296" cy="64008"/>
          </a:xfrm>
          <a:prstGeom prst="rect">
            <a:avLst/>
          </a:prstGeom>
          <a:solidFill>
            <a:srgbClr val="00B4C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5" name="Image 2" descr="/home/claude/v2_media/icon12.png">
            <a:extLst>
              <a:ext uri="{FF2B5EF4-FFF2-40B4-BE49-F238E27FC236}">
                <a16:creationId xmlns:a16="http://schemas.microsoft.com/office/drawing/2014/main" id="{66EC6E0C-7C12-9F82-1335-01A9517AB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1933956"/>
            <a:ext cx="640080" cy="640080"/>
          </a:xfrm>
          <a:prstGeom prst="rect">
            <a:avLst/>
          </a:prstGeom>
        </p:spPr>
      </p:pic>
      <p:sp>
        <p:nvSpPr>
          <p:cNvPr id="46" name="Text 13">
            <a:extLst>
              <a:ext uri="{FF2B5EF4-FFF2-40B4-BE49-F238E27FC236}">
                <a16:creationId xmlns:a16="http://schemas.microsoft.com/office/drawing/2014/main" id="{51D05C41-F68D-FBEB-199B-AA2FCA4E688B}"/>
              </a:ext>
            </a:extLst>
          </p:cNvPr>
          <p:cNvSpPr/>
          <p:nvPr/>
        </p:nvSpPr>
        <p:spPr>
          <a:xfrm>
            <a:off x="3127248" y="2692908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R-CNN</a:t>
            </a:r>
            <a:endParaRPr lang="en-US" sz="11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D1393086-6511-D47A-008F-EBC6020ADB92}"/>
              </a:ext>
            </a:extLst>
          </p:cNvPr>
          <p:cNvSpPr/>
          <p:nvPr/>
        </p:nvSpPr>
        <p:spPr>
          <a:xfrm>
            <a:off x="4361688" y="2500884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AD28C9AB-2D92-7672-736F-9CDF37363648}"/>
              </a:ext>
            </a:extLst>
          </p:cNvPr>
          <p:cNvSpPr/>
          <p:nvPr/>
        </p:nvSpPr>
        <p:spPr>
          <a:xfrm>
            <a:off x="4471416" y="1732788"/>
            <a:ext cx="1225296" cy="205740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D23799DB-63CC-E8F6-C5EC-033F902AEC05}"/>
              </a:ext>
            </a:extLst>
          </p:cNvPr>
          <p:cNvSpPr/>
          <p:nvPr/>
        </p:nvSpPr>
        <p:spPr>
          <a:xfrm>
            <a:off x="4471416" y="1732788"/>
            <a:ext cx="1225296" cy="64008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0" name="Image 3" descr="/home/claude/v2_media/icon13.png">
            <a:extLst>
              <a:ext uri="{FF2B5EF4-FFF2-40B4-BE49-F238E27FC236}">
                <a16:creationId xmlns:a16="http://schemas.microsoft.com/office/drawing/2014/main" id="{973DEFFF-A03D-34B2-770A-1FB44E4D3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1933956"/>
            <a:ext cx="640080" cy="640080"/>
          </a:xfrm>
          <a:prstGeom prst="rect">
            <a:avLst/>
          </a:prstGeom>
        </p:spPr>
      </p:pic>
      <p:sp>
        <p:nvSpPr>
          <p:cNvPr id="51" name="Text 17">
            <a:extLst>
              <a:ext uri="{FF2B5EF4-FFF2-40B4-BE49-F238E27FC236}">
                <a16:creationId xmlns:a16="http://schemas.microsoft.com/office/drawing/2014/main" id="{6F540DF2-8B7D-83D7-468E-E558D9B35EC1}"/>
              </a:ext>
            </a:extLst>
          </p:cNvPr>
          <p:cNvSpPr/>
          <p:nvPr/>
        </p:nvSpPr>
        <p:spPr>
          <a:xfrm>
            <a:off x="4471416" y="2692908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Morfometría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+DBSCAN</a:t>
            </a:r>
            <a:endParaRPr lang="en-US" sz="11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EDA67673-7AA5-4024-747D-C0E196C8FE0F}"/>
              </a:ext>
            </a:extLst>
          </p:cNvPr>
          <p:cNvSpPr/>
          <p:nvPr/>
        </p:nvSpPr>
        <p:spPr>
          <a:xfrm>
            <a:off x="5705856" y="2500884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4F5DEFF5-5E40-F5A0-C34B-C4E099D7F5C2}"/>
              </a:ext>
            </a:extLst>
          </p:cNvPr>
          <p:cNvSpPr/>
          <p:nvPr/>
        </p:nvSpPr>
        <p:spPr>
          <a:xfrm>
            <a:off x="5815584" y="1732788"/>
            <a:ext cx="1225296" cy="2057400"/>
          </a:xfrm>
          <a:prstGeom prst="rect">
            <a:avLst/>
          </a:prstGeom>
          <a:solidFill>
            <a:srgbClr val="E8F6FD"/>
          </a:solidFill>
          <a:ln w="12700">
            <a:solidFill>
              <a:srgbClr val="006B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E2D9E724-255F-C715-7E25-083D026CC8D6}"/>
              </a:ext>
            </a:extLst>
          </p:cNvPr>
          <p:cNvSpPr/>
          <p:nvPr/>
        </p:nvSpPr>
        <p:spPr>
          <a:xfrm>
            <a:off x="5815584" y="1732788"/>
            <a:ext cx="1225296" cy="64008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5" name="Image 4" descr="/home/claude/v2_media/icon14.png">
            <a:extLst>
              <a:ext uri="{FF2B5EF4-FFF2-40B4-BE49-F238E27FC236}">
                <a16:creationId xmlns:a16="http://schemas.microsoft.com/office/drawing/2014/main" id="{B2C7D20D-32ED-A808-7D16-FE2863D75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1933956"/>
            <a:ext cx="640080" cy="640080"/>
          </a:xfrm>
          <a:prstGeom prst="rect">
            <a:avLst/>
          </a:prstGeom>
        </p:spPr>
      </p:pic>
      <p:sp>
        <p:nvSpPr>
          <p:cNvPr id="56" name="Text 21">
            <a:extLst>
              <a:ext uri="{FF2B5EF4-FFF2-40B4-BE49-F238E27FC236}">
                <a16:creationId xmlns:a16="http://schemas.microsoft.com/office/drawing/2014/main" id="{80791819-3F74-B88C-F403-7146136C506B}"/>
              </a:ext>
            </a:extLst>
          </p:cNvPr>
          <p:cNvSpPr/>
          <p:nvPr/>
        </p:nvSpPr>
        <p:spPr>
          <a:xfrm>
            <a:off x="5815584" y="2692908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</a:t>
            </a:r>
            <a:endParaRPr lang="en-US" sz="1100" dirty="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61EFBC37-A9F0-C75E-98D5-CA9801D97746}"/>
              </a:ext>
            </a:extLst>
          </p:cNvPr>
          <p:cNvSpPr/>
          <p:nvPr/>
        </p:nvSpPr>
        <p:spPr>
          <a:xfrm>
            <a:off x="7050024" y="2500884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6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3F4FC813-5A25-AFB2-A584-84EF2D7A1BC0}"/>
              </a:ext>
            </a:extLst>
          </p:cNvPr>
          <p:cNvSpPr/>
          <p:nvPr/>
        </p:nvSpPr>
        <p:spPr>
          <a:xfrm>
            <a:off x="7159752" y="1732788"/>
            <a:ext cx="1225296" cy="2057400"/>
          </a:xfrm>
          <a:prstGeom prst="rect">
            <a:avLst/>
          </a:prstGeom>
          <a:solidFill>
            <a:srgbClr val="E8F6FD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DD6917F5-CE41-1B76-2DB0-009C0EF7CC39}"/>
              </a:ext>
            </a:extLst>
          </p:cNvPr>
          <p:cNvSpPr/>
          <p:nvPr/>
        </p:nvSpPr>
        <p:spPr>
          <a:xfrm>
            <a:off x="7159752" y="1732788"/>
            <a:ext cx="1225296" cy="64008"/>
          </a:xfrm>
          <a:prstGeom prst="rect">
            <a:avLst/>
          </a:prstGeom>
          <a:solidFill>
            <a:srgbClr val="00B4C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0" name="Image 5" descr="/home/claude/v2_media/icon15.png">
            <a:extLst>
              <a:ext uri="{FF2B5EF4-FFF2-40B4-BE49-F238E27FC236}">
                <a16:creationId xmlns:a16="http://schemas.microsoft.com/office/drawing/2014/main" id="{8B356C44-5A58-FE6E-AE1E-2FEA66DF6C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1933956"/>
            <a:ext cx="640080" cy="640080"/>
          </a:xfrm>
          <a:prstGeom prst="rect">
            <a:avLst/>
          </a:prstGeom>
        </p:spPr>
      </p:pic>
      <p:sp>
        <p:nvSpPr>
          <p:cNvPr id="61" name="Text 25">
            <a:extLst>
              <a:ext uri="{FF2B5EF4-FFF2-40B4-BE49-F238E27FC236}">
                <a16:creationId xmlns:a16="http://schemas.microsoft.com/office/drawing/2014/main" id="{6E23E2D5-BE18-075E-5010-5B25C78E1C43}"/>
              </a:ext>
            </a:extLst>
          </p:cNvPr>
          <p:cNvSpPr/>
          <p:nvPr/>
        </p:nvSpPr>
        <p:spPr>
          <a:xfrm>
            <a:off x="7159752" y="2692908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08 · INGENIERÍA DE IA — Brechas del Deep Learning en fibras musculares</a:t>
            </a:r>
            <a:endParaRPr lang="en-US" sz="24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FB1E25B9-3059-C06C-4185-523E46D5AF9D}"/>
              </a:ext>
            </a:extLst>
          </p:cNvPr>
          <p:cNvSpPr/>
          <p:nvPr/>
        </p:nvSpPr>
        <p:spPr>
          <a:xfrm>
            <a:off x="0" y="103227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8C587C39-CF79-5BD6-6A32-304CB61D045C}"/>
              </a:ext>
            </a:extLst>
          </p:cNvPr>
          <p:cNvSpPr/>
          <p:nvPr/>
        </p:nvSpPr>
        <p:spPr>
          <a:xfrm>
            <a:off x="384048" y="1192547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Las 3 brechas del Deep Learning que justifican este proyecto</a:t>
            </a:r>
            <a:endParaRPr lang="en-US" sz="22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4CC2D1D8-568E-D680-463F-53CCF07A4AA0}"/>
              </a:ext>
            </a:extLst>
          </p:cNvPr>
          <p:cNvSpPr/>
          <p:nvPr/>
        </p:nvSpPr>
        <p:spPr>
          <a:xfrm>
            <a:off x="292608" y="1686323"/>
            <a:ext cx="8412480" cy="1207008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CEBC8430-C624-CF5D-D344-0FB8388F8ED9}"/>
              </a:ext>
            </a:extLst>
          </p:cNvPr>
          <p:cNvSpPr/>
          <p:nvPr/>
        </p:nvSpPr>
        <p:spPr>
          <a:xfrm>
            <a:off x="292608" y="1686323"/>
            <a:ext cx="475488" cy="1207008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0C712430-4971-1EEB-C6D6-5BA9C1E6ED6F}"/>
              </a:ext>
            </a:extLst>
          </p:cNvPr>
          <p:cNvSpPr/>
          <p:nvPr/>
        </p:nvSpPr>
        <p:spPr>
          <a:xfrm>
            <a:off x="292608" y="1686323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24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133C625A-DC5E-A95B-772D-AC69CCC210C4}"/>
              </a:ext>
            </a:extLst>
          </p:cNvPr>
          <p:cNvSpPr/>
          <p:nvPr/>
        </p:nvSpPr>
        <p:spPr>
          <a:xfrm>
            <a:off x="886968" y="1796051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de especie: los modelos fallan en tejido humano</a:t>
            </a:r>
            <a:endParaRPr lang="en-US" sz="15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BF40EC96-745C-98CC-F016-658D75596056}"/>
              </a:ext>
            </a:extLst>
          </p:cNvPr>
          <p:cNvSpPr/>
          <p:nvPr/>
        </p:nvSpPr>
        <p:spPr>
          <a:xfrm>
            <a:off x="886968" y="2198387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como MyoV logran DSC ≥ 0.85 en tejido animal, pero caen ~0.15 puntos en tejido humano patológico (Mill et al., 2025). Los límites celulares en miocitos humanos son mucho más complejos.</a:t>
            </a:r>
            <a:endParaRPr lang="en-US" sz="125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E5E0E44B-3B91-D01F-89E2-641933B94153}"/>
              </a:ext>
            </a:extLst>
          </p:cNvPr>
          <p:cNvSpPr/>
          <p:nvPr/>
        </p:nvSpPr>
        <p:spPr>
          <a:xfrm>
            <a:off x="292608" y="3131075"/>
            <a:ext cx="8412480" cy="1207008"/>
          </a:xfrm>
          <a:prstGeom prst="rect">
            <a:avLst/>
          </a:prstGeom>
          <a:solidFill>
            <a:srgbClr val="E8F6FD"/>
          </a:solidFill>
          <a:ln w="12700">
            <a:solidFill>
              <a:srgbClr val="006B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797F9533-D8D5-EA4A-DAC7-8D3EC0552A8D}"/>
              </a:ext>
            </a:extLst>
          </p:cNvPr>
          <p:cNvSpPr/>
          <p:nvPr/>
        </p:nvSpPr>
        <p:spPr>
          <a:xfrm>
            <a:off x="292608" y="3131075"/>
            <a:ext cx="475488" cy="1207008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6DF6B81C-F00D-0DA8-3BFF-0B361A07A57D}"/>
              </a:ext>
            </a:extLst>
          </p:cNvPr>
          <p:cNvSpPr/>
          <p:nvPr/>
        </p:nvSpPr>
        <p:spPr>
          <a:xfrm>
            <a:off x="292608" y="3131075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24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60086200-589D-062E-DDB6-B8754AEACF23}"/>
              </a:ext>
            </a:extLst>
          </p:cNvPr>
          <p:cNvSpPr/>
          <p:nvPr/>
        </p:nvSpPr>
        <p:spPr>
          <a:xfrm>
            <a:off x="886968" y="3240803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angular solo accesible a $500K+</a:t>
            </a:r>
            <a:endParaRPr lang="en-US" sz="15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9C77CC48-F040-BBCE-F14A-BAF7D2CDDC4C}"/>
              </a:ext>
            </a:extLst>
          </p:cNvPr>
          <p:cNvSpPr/>
          <p:nvPr/>
        </p:nvSpPr>
        <p:spPr>
          <a:xfrm>
            <a:off x="886968" y="3643139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estimación de orientación de fibras actualmente requiere DTI ($500K–$3M USD por equipo). Microscopía óptica convencional ($20K–$80K) es 6–37× más accesible, pero ningún método extrae orientación desde WSI.</a:t>
            </a:r>
            <a:endParaRPr lang="en-US" sz="125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28C42565-B20C-42DB-6BDC-048A4E15C6F6}"/>
              </a:ext>
            </a:extLst>
          </p:cNvPr>
          <p:cNvSpPr/>
          <p:nvPr/>
        </p:nvSpPr>
        <p:spPr>
          <a:xfrm>
            <a:off x="292608" y="4575827"/>
            <a:ext cx="8412480" cy="1207008"/>
          </a:xfrm>
          <a:prstGeom prst="rect">
            <a:avLst/>
          </a:prstGeom>
          <a:solidFill>
            <a:srgbClr val="E8F6FD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A50A824B-A21B-7CC6-B56A-4FF2668A59A2}"/>
              </a:ext>
            </a:extLst>
          </p:cNvPr>
          <p:cNvSpPr/>
          <p:nvPr/>
        </p:nvSpPr>
        <p:spPr>
          <a:xfrm>
            <a:off x="292608" y="4575827"/>
            <a:ext cx="475488" cy="1207008"/>
          </a:xfrm>
          <a:prstGeom prst="rect">
            <a:avLst/>
          </a:prstGeom>
          <a:solidFill>
            <a:srgbClr val="00B4C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5D5D4F37-9887-0B67-7F89-6371D76D0A9D}"/>
              </a:ext>
            </a:extLst>
          </p:cNvPr>
          <p:cNvSpPr/>
          <p:nvPr/>
        </p:nvSpPr>
        <p:spPr>
          <a:xfrm>
            <a:off x="292608" y="4575827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24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EDAD4E5F-139B-9CB0-A9E5-BFC36D8020C3}"/>
              </a:ext>
            </a:extLst>
          </p:cNvPr>
          <p:cNvSpPr/>
          <p:nvPr/>
        </p:nvSpPr>
        <p:spPr>
          <a:xfrm>
            <a:off x="886968" y="4685555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generalistas no sirven para fibras musculares</a:t>
            </a:r>
            <a:endParaRPr lang="en-US" sz="15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768D946B-B103-8FB0-29BB-5CED76C7B7D6}"/>
              </a:ext>
            </a:extLst>
          </p:cNvPr>
          <p:cNvSpPr/>
          <p:nvPr/>
        </p:nvSpPr>
        <p:spPr>
          <a:xfrm>
            <a:off x="886968" y="5087891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Cellpose alcanza DSC 0.71–0.76 en fibras musculares — por debajo del umbral clínico de 0.85. Su entrenamiento genérico H&amp;E no captura la densidad y desorden estructural del músculo humano.</a:t>
            </a:r>
            <a:endParaRPr lang="en-US" sz="1250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D0FE449C-6573-38EF-43B4-F8F20BB3BFFE}"/>
              </a:ext>
            </a:extLst>
          </p:cNvPr>
          <p:cNvSpPr/>
          <p:nvPr/>
        </p:nvSpPr>
        <p:spPr>
          <a:xfrm>
            <a:off x="292608" y="6057155"/>
            <a:ext cx="8412480" cy="256032"/>
          </a:xfrm>
          <a:prstGeom prst="rect">
            <a:avLst/>
          </a:prstGeom>
          <a:solidFill>
            <a:srgbClr val="005F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71BF9EC3-E9CE-D784-2825-FF21B9B2156A}"/>
              </a:ext>
            </a:extLst>
          </p:cNvPr>
          <p:cNvSpPr/>
          <p:nvPr/>
        </p:nvSpPr>
        <p:spPr>
          <a:xfrm>
            <a:off x="402336" y="6057155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Solución: un modelo específico para tejido humano que opere en WSI de bajo costo y estime orientación sin RM.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09 · INGENIERÍA DE SOLUCIONES — Selección de alternativa técnica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144274"/>
            <a:ext cx="278892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23571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Alt. 1: U-Net + Post-proc.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69291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Score: 0.69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2209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Rápida (~7s/ROI), menor memoria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4330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Falla en fibras solapadas, DSC ~0.78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44274"/>
            <a:ext cx="2788920" cy="256032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246120" y="114427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SELECCIONADA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400306"/>
            <a:ext cx="2788920" cy="1755648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337560" y="149174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Alt. 2: Mask R-CNN + RL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4894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Score: 0.92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27813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Segmentación de instancias, orientación RL, robusto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79933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Mayor complejidad, requiere GPU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4274"/>
            <a:ext cx="278892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309360" y="123571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Alt. 3: Watershed + Elipses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69291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Score: 0.64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02209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Baja dependencia de datos, sencilla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54330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Sensible a ruido, ajuste manual, DSC ~0.75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349428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EVALUACIÓN PONDERADA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" y="3768602"/>
            <a:ext cx="2926080" cy="384048"/>
          </a:xfrm>
          <a:prstGeom prst="rect">
            <a:avLst/>
          </a:prstGeom>
          <a:solidFill>
            <a:srgbClr val="0098C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56616" y="376860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18688" y="3768602"/>
            <a:ext cx="777240" cy="384048"/>
          </a:xfrm>
          <a:prstGeom prst="rect">
            <a:avLst/>
          </a:prstGeom>
          <a:solidFill>
            <a:srgbClr val="0098C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282696" y="376860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95928" y="3768602"/>
            <a:ext cx="1371600" cy="384048"/>
          </a:xfrm>
          <a:prstGeom prst="rect">
            <a:avLst/>
          </a:prstGeom>
          <a:solidFill>
            <a:srgbClr val="0098C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059936" y="376860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67528" y="3768602"/>
            <a:ext cx="3337560" cy="384048"/>
          </a:xfrm>
          <a:prstGeom prst="rect">
            <a:avLst/>
          </a:prstGeom>
          <a:solidFill>
            <a:srgbClr val="0098C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431536" y="376860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Alt.2 (Mask R-CNN+RL)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" y="4152650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356616" y="415265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segmentación (DSC)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18688" y="415265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282696" y="415265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95928" y="415265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4059936" y="415265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0.85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67528" y="4152650"/>
            <a:ext cx="3337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431536" y="415265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~0.88 → 0.35 pts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" y="4536698"/>
            <a:ext cx="292608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356616" y="453669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conteo (MAE)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18688" y="4536698"/>
            <a:ext cx="77724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3282696" y="453669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95928" y="4536698"/>
            <a:ext cx="137160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059936" y="453669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67528" y="4536698"/>
            <a:ext cx="333756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5431536" y="453669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~4% → 0.25 pts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2608" y="492074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356616" y="492074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 al ruido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18688" y="4920746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3282696" y="492074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95928" y="492074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4059936" y="492074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Var. &lt; 10%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67528" y="4920746"/>
            <a:ext cx="3337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5431536" y="492074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~8% → 0.15 pts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92608" y="5304794"/>
            <a:ext cx="292608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356616" y="530479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computacional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18688" y="5304794"/>
            <a:ext cx="77724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4"/>
          <p:cNvSpPr/>
          <p:nvPr/>
        </p:nvSpPr>
        <p:spPr>
          <a:xfrm>
            <a:off x="3282696" y="530479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995928" y="5304794"/>
            <a:ext cx="137160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4059936" y="530479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30s/ROI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367528" y="5304794"/>
            <a:ext cx="3337560" cy="384048"/>
          </a:xfrm>
          <a:prstGeom prst="rect">
            <a:avLst/>
          </a:prstGeom>
          <a:solidFill>
            <a:srgbClr val="F5FB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8"/>
          <p:cNvSpPr/>
          <p:nvPr/>
        </p:nvSpPr>
        <p:spPr>
          <a:xfrm>
            <a:off x="5431536" y="530479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~25s → 0.07 pts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92608" y="5688842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356616" y="568884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Interpretabilidad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218688" y="5688842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2"/>
          <p:cNvSpPr/>
          <p:nvPr/>
        </p:nvSpPr>
        <p:spPr>
          <a:xfrm>
            <a:off x="3282696" y="568884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995928" y="568884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4"/>
          <p:cNvSpPr/>
          <p:nvPr/>
        </p:nvSpPr>
        <p:spPr>
          <a:xfrm>
            <a:off x="4059936" y="568884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Overlays claros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67528" y="5688842"/>
            <a:ext cx="3337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Text 66"/>
          <p:cNvSpPr/>
          <p:nvPr/>
        </p:nvSpPr>
        <p:spPr>
          <a:xfrm>
            <a:off x="5431536" y="568884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+ confianza → 0.10 pts</a:t>
            </a:r>
            <a:endParaRPr lang="en-US" sz="1100" dirty="0"/>
          </a:p>
        </p:txBody>
      </p:sp>
      <p:sp>
        <p:nvSpPr>
          <p:cNvPr id="72" name="Shape 13">
            <a:extLst>
              <a:ext uri="{FF2B5EF4-FFF2-40B4-BE49-F238E27FC236}">
                <a16:creationId xmlns:a16="http://schemas.microsoft.com/office/drawing/2014/main" id="{64F1183E-AC9E-CE18-EBA6-B50793C43D2A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 · METODOLOGÍA — SCRUM + LEAN: Build-Measure-Learn</a:t>
            </a:r>
            <a:endParaRPr lang="en-US" sz="24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BA8D95A4-1380-9014-C0E5-D1652DE29FB2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8180E8AE-001C-7FB2-87BC-452CF18AD259}"/>
              </a:ext>
            </a:extLst>
          </p:cNvPr>
          <p:cNvSpPr/>
          <p:nvPr/>
        </p:nvSpPr>
        <p:spPr>
          <a:xfrm>
            <a:off x="329184" y="1519180"/>
            <a:ext cx="4069080" cy="2212848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85E22538-D492-DBDE-CC3D-6236AF9430EF}"/>
              </a:ext>
            </a:extLst>
          </p:cNvPr>
          <p:cNvSpPr/>
          <p:nvPr/>
        </p:nvSpPr>
        <p:spPr>
          <a:xfrm>
            <a:off x="329184" y="1519180"/>
            <a:ext cx="4069080" cy="32004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51EE7CF0-935F-A8CC-09FE-859EC2C93AD0}"/>
              </a:ext>
            </a:extLst>
          </p:cNvPr>
          <p:cNvSpPr/>
          <p:nvPr/>
        </p:nvSpPr>
        <p:spPr>
          <a:xfrm>
            <a:off x="420624" y="15191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SCRUM</a:t>
            </a:r>
            <a:endParaRPr lang="en-US" sz="1100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764461B8-E941-24F7-7C4F-9636F4CB5545}"/>
              </a:ext>
            </a:extLst>
          </p:cNvPr>
          <p:cNvSpPr/>
          <p:nvPr/>
        </p:nvSpPr>
        <p:spPr>
          <a:xfrm>
            <a:off x="484632" y="190322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Product Owner: </a:t>
            </a: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Mercado B.</a:t>
            </a:r>
            <a:endParaRPr lang="en-US" sz="1250" dirty="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B312166E-D899-ACB3-AAAC-3A95686DB198}"/>
              </a:ext>
            </a:extLst>
          </p:cNvPr>
          <p:cNvSpPr/>
          <p:nvPr/>
        </p:nvSpPr>
        <p:spPr>
          <a:xfrm>
            <a:off x="484632" y="236042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Scrum Master: </a:t>
            </a: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Adrián Trejo M.</a:t>
            </a:r>
            <a:endParaRPr lang="en-US" sz="125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3C8750F4-BB96-0349-DD26-68793C4A8671}"/>
              </a:ext>
            </a:extLst>
          </p:cNvPr>
          <p:cNvSpPr/>
          <p:nvPr/>
        </p:nvSpPr>
        <p:spPr>
          <a:xfrm>
            <a:off x="484632" y="281762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Developer: </a:t>
            </a: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Octavio Pérez B.</a:t>
            </a:r>
            <a:endParaRPr lang="en-US" sz="1250" dirty="0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09C1E7FF-66DF-2151-3013-561D4F7B1C7E}"/>
              </a:ext>
            </a:extLst>
          </p:cNvPr>
          <p:cNvSpPr/>
          <p:nvPr/>
        </p:nvSpPr>
        <p:spPr>
          <a:xfrm>
            <a:off x="4526280" y="1519180"/>
            <a:ext cx="4251960" cy="2212848"/>
          </a:xfrm>
          <a:prstGeom prst="rect">
            <a:avLst/>
          </a:prstGeom>
          <a:solidFill>
            <a:srgbClr val="E8F6FD"/>
          </a:solidFill>
          <a:ln w="12700">
            <a:solidFill>
              <a:srgbClr val="006B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B890B94E-D63D-7791-49A8-89E38E4A798B}"/>
              </a:ext>
            </a:extLst>
          </p:cNvPr>
          <p:cNvSpPr/>
          <p:nvPr/>
        </p:nvSpPr>
        <p:spPr>
          <a:xfrm>
            <a:off x="4526280" y="1519180"/>
            <a:ext cx="4251960" cy="320040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65C128A7-BF1F-EF97-0D06-491EA3D524BF}"/>
              </a:ext>
            </a:extLst>
          </p:cNvPr>
          <p:cNvSpPr/>
          <p:nvPr/>
        </p:nvSpPr>
        <p:spPr>
          <a:xfrm>
            <a:off x="4617720" y="15191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SPRINTS · 10 SEMANAS</a:t>
            </a:r>
            <a:endParaRPr lang="en-US" sz="11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E1BF585D-4F61-8C73-000D-C410B5B5AD07}"/>
              </a:ext>
            </a:extLst>
          </p:cNvPr>
          <p:cNvSpPr/>
          <p:nvPr/>
        </p:nvSpPr>
        <p:spPr>
          <a:xfrm>
            <a:off x="4645152" y="19032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9E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S1–S2: Infraestructura + Preprocesamiento</a:t>
            </a:r>
            <a:endParaRPr lang="en-US" sz="120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3C762AF4-B9A8-25E0-CD5E-88B734838B32}"/>
              </a:ext>
            </a:extLst>
          </p:cNvPr>
          <p:cNvSpPr/>
          <p:nvPr/>
        </p:nvSpPr>
        <p:spPr>
          <a:xfrm>
            <a:off x="4645152" y="23421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9E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Entrenamiento Mask R-CNN</a:t>
            </a:r>
            <a:endParaRPr lang="en-US" sz="1200" dirty="0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07453B1B-5EF5-7EBD-8AA7-E8B5A5B10AA8}"/>
              </a:ext>
            </a:extLst>
          </p:cNvPr>
          <p:cNvSpPr/>
          <p:nvPr/>
        </p:nvSpPr>
        <p:spPr>
          <a:xfrm>
            <a:off x="4645152" y="27810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9E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S4: Agente RL de orientación</a:t>
            </a:r>
            <a:endParaRPr lang="en-US" sz="1200" dirty="0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BC7D77DC-E3C2-8EBC-11CF-A4C0E045B46B}"/>
              </a:ext>
            </a:extLst>
          </p:cNvPr>
          <p:cNvSpPr/>
          <p:nvPr/>
        </p:nvSpPr>
        <p:spPr>
          <a:xfrm>
            <a:off x="4645152" y="32199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9E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S5: Integración GUI + Validación final</a:t>
            </a:r>
            <a:endParaRPr lang="en-US" sz="1200" dirty="0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11321450-FA63-8BCB-58C1-A15139F2BDC3}"/>
              </a:ext>
            </a:extLst>
          </p:cNvPr>
          <p:cNvSpPr/>
          <p:nvPr/>
        </p:nvSpPr>
        <p:spPr>
          <a:xfrm>
            <a:off x="329184" y="3869188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BUILD-MEASURE-LEARN</a:t>
            </a:r>
            <a:endParaRPr lang="en-US" sz="1100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85D8942D-5BF5-4BB6-FC3C-947499134B98}"/>
              </a:ext>
            </a:extLst>
          </p:cNvPr>
          <p:cNvSpPr/>
          <p:nvPr/>
        </p:nvSpPr>
        <p:spPr>
          <a:xfrm>
            <a:off x="329184" y="4143508"/>
            <a:ext cx="1572768" cy="40233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1DACA6E5-E076-0BCA-FB7D-9E3D727D7857}"/>
              </a:ext>
            </a:extLst>
          </p:cNvPr>
          <p:cNvSpPr/>
          <p:nvPr/>
        </p:nvSpPr>
        <p:spPr>
          <a:xfrm>
            <a:off x="402336" y="4143508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</a:t>
            </a:r>
            <a:endParaRPr lang="en-US" sz="1150" dirty="0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4ED58A75-EEA6-BA0F-6D3D-37A302CC1761}"/>
              </a:ext>
            </a:extLst>
          </p:cNvPr>
          <p:cNvSpPr/>
          <p:nvPr/>
        </p:nvSpPr>
        <p:spPr>
          <a:xfrm>
            <a:off x="1901952" y="4143508"/>
            <a:ext cx="1051560" cy="40233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7B1E8FD8-0841-83D3-6D7B-2E9D5DF16BC7}"/>
              </a:ext>
            </a:extLst>
          </p:cNvPr>
          <p:cNvSpPr/>
          <p:nvPr/>
        </p:nvSpPr>
        <p:spPr>
          <a:xfrm>
            <a:off x="1975104" y="4143508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1150" dirty="0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D19D263A-0355-C103-9227-1186000DE69D}"/>
              </a:ext>
            </a:extLst>
          </p:cNvPr>
          <p:cNvSpPr/>
          <p:nvPr/>
        </p:nvSpPr>
        <p:spPr>
          <a:xfrm>
            <a:off x="2953512" y="4143508"/>
            <a:ext cx="3538728" cy="40233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87566EF1-BB1E-0283-0ECA-96923336C7BC}"/>
              </a:ext>
            </a:extLst>
          </p:cNvPr>
          <p:cNvSpPr/>
          <p:nvPr/>
        </p:nvSpPr>
        <p:spPr>
          <a:xfrm>
            <a:off x="3026664" y="4143508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 clave</a:t>
            </a:r>
            <a:endParaRPr lang="en-US" sz="1150" dirty="0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91C5580B-0C54-FA55-0617-884DCB8D85BF}"/>
              </a:ext>
            </a:extLst>
          </p:cNvPr>
          <p:cNvSpPr/>
          <p:nvPr/>
        </p:nvSpPr>
        <p:spPr>
          <a:xfrm>
            <a:off x="6492240" y="4143508"/>
            <a:ext cx="2286000" cy="40233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08063A9B-E5E2-8812-E7FB-B02D4812BCF2}"/>
              </a:ext>
            </a:extLst>
          </p:cNvPr>
          <p:cNvSpPr/>
          <p:nvPr/>
        </p:nvSpPr>
        <p:spPr>
          <a:xfrm>
            <a:off x="6565392" y="414350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éxito</a:t>
            </a:r>
            <a:endParaRPr lang="en-US" sz="1150" dirty="0"/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05E7FB97-F03A-46E8-E30C-EA9994A1C9B3}"/>
              </a:ext>
            </a:extLst>
          </p:cNvPr>
          <p:cNvSpPr/>
          <p:nvPr/>
        </p:nvSpPr>
        <p:spPr>
          <a:xfrm>
            <a:off x="329184" y="4545844"/>
            <a:ext cx="15727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02944117-6617-62D9-785C-878D0FF487FA}"/>
              </a:ext>
            </a:extLst>
          </p:cNvPr>
          <p:cNvSpPr/>
          <p:nvPr/>
        </p:nvSpPr>
        <p:spPr>
          <a:xfrm>
            <a:off x="402336" y="4545844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MVP</a:t>
            </a:r>
            <a:endParaRPr lang="en-US" sz="1100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A6A2CDCD-310A-C00E-C295-D70109B77A61}"/>
              </a:ext>
            </a:extLst>
          </p:cNvPr>
          <p:cNvSpPr/>
          <p:nvPr/>
        </p:nvSpPr>
        <p:spPr>
          <a:xfrm>
            <a:off x="1901952" y="4545844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28">
            <a:extLst>
              <a:ext uri="{FF2B5EF4-FFF2-40B4-BE49-F238E27FC236}">
                <a16:creationId xmlns:a16="http://schemas.microsoft.com/office/drawing/2014/main" id="{6421FE6C-4A6D-5F3F-9DBA-26FCE11B839A}"/>
              </a:ext>
            </a:extLst>
          </p:cNvPr>
          <p:cNvSpPr/>
          <p:nvPr/>
        </p:nvSpPr>
        <p:spPr>
          <a:xfrm>
            <a:off x="1975104" y="4545844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S1+S2</a:t>
            </a:r>
            <a:endParaRPr lang="en-US" sz="1100" dirty="0"/>
          </a:p>
        </p:txBody>
      </p:sp>
      <p:sp>
        <p:nvSpPr>
          <p:cNvPr id="72" name="Shape 29">
            <a:extLst>
              <a:ext uri="{FF2B5EF4-FFF2-40B4-BE49-F238E27FC236}">
                <a16:creationId xmlns:a16="http://schemas.microsoft.com/office/drawing/2014/main" id="{74EA7821-20C2-4A59-F4D0-FD4DE2C0444D}"/>
              </a:ext>
            </a:extLst>
          </p:cNvPr>
          <p:cNvSpPr/>
          <p:nvPr/>
        </p:nvSpPr>
        <p:spPr>
          <a:xfrm>
            <a:off x="2953512" y="4545844"/>
            <a:ext cx="3538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30">
            <a:extLst>
              <a:ext uri="{FF2B5EF4-FFF2-40B4-BE49-F238E27FC236}">
                <a16:creationId xmlns:a16="http://schemas.microsoft.com/office/drawing/2014/main" id="{ADC5C9E7-1B0E-9785-739C-8637B165EA31}"/>
              </a:ext>
            </a:extLst>
          </p:cNvPr>
          <p:cNvSpPr/>
          <p:nvPr/>
        </p:nvSpPr>
        <p:spPr>
          <a:xfrm>
            <a:off x="3026664" y="4545844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R-CNN segmenta fibras correctamente</a:t>
            </a:r>
            <a:endParaRPr lang="en-US" sz="1100" dirty="0"/>
          </a:p>
        </p:txBody>
      </p:sp>
      <p:sp>
        <p:nvSpPr>
          <p:cNvPr id="74" name="Shape 31">
            <a:extLst>
              <a:ext uri="{FF2B5EF4-FFF2-40B4-BE49-F238E27FC236}">
                <a16:creationId xmlns:a16="http://schemas.microsoft.com/office/drawing/2014/main" id="{6C1341E0-806A-5847-39E3-85BC2E97181B}"/>
              </a:ext>
            </a:extLst>
          </p:cNvPr>
          <p:cNvSpPr/>
          <p:nvPr/>
        </p:nvSpPr>
        <p:spPr>
          <a:xfrm>
            <a:off x="6492240" y="4545844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DCCD2843-FCFE-BA40-821A-E9C8889496A2}"/>
              </a:ext>
            </a:extLst>
          </p:cNvPr>
          <p:cNvSpPr/>
          <p:nvPr/>
        </p:nvSpPr>
        <p:spPr>
          <a:xfrm>
            <a:off x="6565392" y="454584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≥ 0.80 (umbral de sprint)</a:t>
            </a:r>
            <a:endParaRPr lang="en-US" sz="1100" dirty="0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CA68EA6B-53B2-BF78-E081-5A92557E9FF4}"/>
              </a:ext>
            </a:extLst>
          </p:cNvPr>
          <p:cNvSpPr/>
          <p:nvPr/>
        </p:nvSpPr>
        <p:spPr>
          <a:xfrm>
            <a:off x="329184" y="4948180"/>
            <a:ext cx="1572768" cy="40233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8189275A-0FDF-1495-DC5E-DB458D6DB2A2}"/>
              </a:ext>
            </a:extLst>
          </p:cNvPr>
          <p:cNvSpPr/>
          <p:nvPr/>
        </p:nvSpPr>
        <p:spPr>
          <a:xfrm>
            <a:off x="402336" y="4948180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100" dirty="0"/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47E45504-A112-A04A-1B5C-D98DCFF20061}"/>
              </a:ext>
            </a:extLst>
          </p:cNvPr>
          <p:cNvSpPr/>
          <p:nvPr/>
        </p:nvSpPr>
        <p:spPr>
          <a:xfrm>
            <a:off x="1901952" y="4948180"/>
            <a:ext cx="1051560" cy="40233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Text 36">
            <a:extLst>
              <a:ext uri="{FF2B5EF4-FFF2-40B4-BE49-F238E27FC236}">
                <a16:creationId xmlns:a16="http://schemas.microsoft.com/office/drawing/2014/main" id="{4FDDD650-1A58-74DB-598D-B19062807D21}"/>
              </a:ext>
            </a:extLst>
          </p:cNvPr>
          <p:cNvSpPr/>
          <p:nvPr/>
        </p:nvSpPr>
        <p:spPr>
          <a:xfrm>
            <a:off x="1975104" y="49481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80" name="Shape 37">
            <a:extLst>
              <a:ext uri="{FF2B5EF4-FFF2-40B4-BE49-F238E27FC236}">
                <a16:creationId xmlns:a16="http://schemas.microsoft.com/office/drawing/2014/main" id="{61A64DFE-2EDB-78FE-0DA7-FB6E63940B8A}"/>
              </a:ext>
            </a:extLst>
          </p:cNvPr>
          <p:cNvSpPr/>
          <p:nvPr/>
        </p:nvSpPr>
        <p:spPr>
          <a:xfrm>
            <a:off x="2953512" y="4948180"/>
            <a:ext cx="3538728" cy="40233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B74C7720-8E69-C68A-FA1C-4651C66D5978}"/>
              </a:ext>
            </a:extLst>
          </p:cNvPr>
          <p:cNvSpPr/>
          <p:nvPr/>
        </p:nvSpPr>
        <p:spPr>
          <a:xfrm>
            <a:off x="3026664" y="4948180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clínica es aceptable</a:t>
            </a:r>
            <a:endParaRPr lang="en-US" sz="1100" dirty="0"/>
          </a:p>
        </p:txBody>
      </p:sp>
      <p:sp>
        <p:nvSpPr>
          <p:cNvPr id="82" name="Shape 39">
            <a:extLst>
              <a:ext uri="{FF2B5EF4-FFF2-40B4-BE49-F238E27FC236}">
                <a16:creationId xmlns:a16="http://schemas.microsoft.com/office/drawing/2014/main" id="{A798C114-17A7-431D-FA32-857ADFEB1516}"/>
              </a:ext>
            </a:extLst>
          </p:cNvPr>
          <p:cNvSpPr/>
          <p:nvPr/>
        </p:nvSpPr>
        <p:spPr>
          <a:xfrm>
            <a:off x="6492240" y="4948180"/>
            <a:ext cx="2286000" cy="40233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FF0251E3-AC24-56E0-E6DB-2E1ADB85E18E}"/>
              </a:ext>
            </a:extLst>
          </p:cNvPr>
          <p:cNvSpPr/>
          <p:nvPr/>
        </p:nvSpPr>
        <p:spPr>
          <a:xfrm>
            <a:off x="6565392" y="49481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≤ 10% (umbral de sprint)</a:t>
            </a:r>
            <a:endParaRPr lang="en-US" sz="1100" dirty="0"/>
          </a:p>
        </p:txBody>
      </p:sp>
      <p:sp>
        <p:nvSpPr>
          <p:cNvPr id="84" name="Shape 41">
            <a:extLst>
              <a:ext uri="{FF2B5EF4-FFF2-40B4-BE49-F238E27FC236}">
                <a16:creationId xmlns:a16="http://schemas.microsoft.com/office/drawing/2014/main" id="{1F9FECA9-172F-3B85-9A98-43482D190E9E}"/>
              </a:ext>
            </a:extLst>
          </p:cNvPr>
          <p:cNvSpPr/>
          <p:nvPr/>
        </p:nvSpPr>
        <p:spPr>
          <a:xfrm>
            <a:off x="329184" y="5350516"/>
            <a:ext cx="15727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Text 42">
            <a:extLst>
              <a:ext uri="{FF2B5EF4-FFF2-40B4-BE49-F238E27FC236}">
                <a16:creationId xmlns:a16="http://schemas.microsoft.com/office/drawing/2014/main" id="{E98BB75A-BF6F-EC13-08CB-9EB2263C82DE}"/>
              </a:ext>
            </a:extLst>
          </p:cNvPr>
          <p:cNvSpPr/>
          <p:nvPr/>
        </p:nvSpPr>
        <p:spPr>
          <a:xfrm>
            <a:off x="402336" y="5350516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RL</a:t>
            </a:r>
            <a:endParaRPr lang="en-US" sz="1100" dirty="0"/>
          </a:p>
        </p:txBody>
      </p:sp>
      <p:sp>
        <p:nvSpPr>
          <p:cNvPr id="86" name="Shape 43">
            <a:extLst>
              <a:ext uri="{FF2B5EF4-FFF2-40B4-BE49-F238E27FC236}">
                <a16:creationId xmlns:a16="http://schemas.microsoft.com/office/drawing/2014/main" id="{6114607B-A69A-FC7F-6B2A-619FEE24A709}"/>
              </a:ext>
            </a:extLst>
          </p:cNvPr>
          <p:cNvSpPr/>
          <p:nvPr/>
        </p:nvSpPr>
        <p:spPr>
          <a:xfrm>
            <a:off x="1901952" y="5350516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44">
            <a:extLst>
              <a:ext uri="{FF2B5EF4-FFF2-40B4-BE49-F238E27FC236}">
                <a16:creationId xmlns:a16="http://schemas.microsoft.com/office/drawing/2014/main" id="{CBB838F6-88B1-1BD8-29EB-84E947057C02}"/>
              </a:ext>
            </a:extLst>
          </p:cNvPr>
          <p:cNvSpPr/>
          <p:nvPr/>
        </p:nvSpPr>
        <p:spPr>
          <a:xfrm>
            <a:off x="1975104" y="5350516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100" dirty="0"/>
          </a:p>
        </p:txBody>
      </p:sp>
      <p:sp>
        <p:nvSpPr>
          <p:cNvPr id="88" name="Shape 45">
            <a:extLst>
              <a:ext uri="{FF2B5EF4-FFF2-40B4-BE49-F238E27FC236}">
                <a16:creationId xmlns:a16="http://schemas.microsoft.com/office/drawing/2014/main" id="{4964D59B-7C76-0F43-51C4-F7A36C0EBF02}"/>
              </a:ext>
            </a:extLst>
          </p:cNvPr>
          <p:cNvSpPr/>
          <p:nvPr/>
        </p:nvSpPr>
        <p:spPr>
          <a:xfrm>
            <a:off x="2953512" y="5350516"/>
            <a:ext cx="3538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Text 46">
            <a:extLst>
              <a:ext uri="{FF2B5EF4-FFF2-40B4-BE49-F238E27FC236}">
                <a16:creationId xmlns:a16="http://schemas.microsoft.com/office/drawing/2014/main" id="{EF409ABF-9F71-B6AF-FD6E-DEDFACDA10C1}"/>
              </a:ext>
            </a:extLst>
          </p:cNvPr>
          <p:cNvSpPr/>
          <p:nvPr/>
        </p:nvSpPr>
        <p:spPr>
          <a:xfrm>
            <a:off x="3026664" y="5350516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RL estima orientación angular</a:t>
            </a:r>
            <a:endParaRPr lang="en-US" sz="1100" dirty="0"/>
          </a:p>
        </p:txBody>
      </p:sp>
      <p:sp>
        <p:nvSpPr>
          <p:cNvPr id="90" name="Shape 47">
            <a:extLst>
              <a:ext uri="{FF2B5EF4-FFF2-40B4-BE49-F238E27FC236}">
                <a16:creationId xmlns:a16="http://schemas.microsoft.com/office/drawing/2014/main" id="{A82B19C1-DD0D-FD86-0A1F-20602869546D}"/>
              </a:ext>
            </a:extLst>
          </p:cNvPr>
          <p:cNvSpPr/>
          <p:nvPr/>
        </p:nvSpPr>
        <p:spPr>
          <a:xfrm>
            <a:off x="6492240" y="5350516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48">
            <a:extLst>
              <a:ext uri="{FF2B5EF4-FFF2-40B4-BE49-F238E27FC236}">
                <a16:creationId xmlns:a16="http://schemas.microsoft.com/office/drawing/2014/main" id="{DA868868-64A0-F06E-DFA7-59476C73ECC8}"/>
              </a:ext>
            </a:extLst>
          </p:cNvPr>
          <p:cNvSpPr/>
          <p:nvPr/>
        </p:nvSpPr>
        <p:spPr>
          <a:xfrm>
            <a:off x="6565392" y="535051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&lt; 10°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 · METODOLOGÍA — Gantt</a:t>
            </a:r>
            <a:endParaRPr lang="en-US" sz="2400" dirty="0"/>
          </a:p>
        </p:txBody>
      </p:sp>
      <p:pic>
        <p:nvPicPr>
          <p:cNvPr id="3" name="Image 0" descr="/home/claude/unir_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14" y="1382973"/>
            <a:ext cx="9026619" cy="4753379"/>
          </a:xfrm>
          <a:prstGeom prst="rect">
            <a:avLst/>
          </a:prstGeom>
        </p:spPr>
      </p:pic>
      <p:sp>
        <p:nvSpPr>
          <p:cNvPr id="7" name="Shape 13">
            <a:extLst>
              <a:ext uri="{FF2B5EF4-FFF2-40B4-BE49-F238E27FC236}">
                <a16:creationId xmlns:a16="http://schemas.microsoft.com/office/drawing/2014/main" id="{EE888A57-CDE5-73C4-A930-835FB86E5C38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 · METODOLOGÍA — Seguimiento de Actividades</a:t>
            </a:r>
            <a:endParaRPr lang="en-US" sz="2400" dirty="0"/>
          </a:p>
        </p:txBody>
      </p:sp>
      <p:pic>
        <p:nvPicPr>
          <p:cNvPr id="3" name="Image 0" descr="/home/claude/unir_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03120"/>
            <a:ext cx="5120640" cy="2651760"/>
          </a:xfrm>
          <a:prstGeom prst="rect">
            <a:avLst/>
          </a:prstGeom>
        </p:spPr>
      </p:pic>
      <p:sp>
        <p:nvSpPr>
          <p:cNvPr id="10" name="Shape 13">
            <a:extLst>
              <a:ext uri="{FF2B5EF4-FFF2-40B4-BE49-F238E27FC236}">
                <a16:creationId xmlns:a16="http://schemas.microsoft.com/office/drawing/2014/main" id="{6B2FA614-E4E4-5E9B-34E1-9D678F692398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925091A-CB06-F29A-AB25-DFB72CAF83BE}"/>
              </a:ext>
            </a:extLst>
          </p:cNvPr>
          <p:cNvSpPr/>
          <p:nvPr/>
        </p:nvSpPr>
        <p:spPr>
          <a:xfrm>
            <a:off x="5715000" y="2168191"/>
            <a:ext cx="3246120" cy="265176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2E9578E-E9E2-34C8-89AE-1E7466544773}"/>
              </a:ext>
            </a:extLst>
          </p:cNvPr>
          <p:cNvSpPr/>
          <p:nvPr/>
        </p:nvSpPr>
        <p:spPr>
          <a:xfrm>
            <a:off x="5715000" y="2168191"/>
            <a:ext cx="3246120" cy="347472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4FCE270-5283-5694-F409-A186F1E41142}"/>
              </a:ext>
            </a:extLst>
          </p:cNvPr>
          <p:cNvSpPr/>
          <p:nvPr/>
        </p:nvSpPr>
        <p:spPr>
          <a:xfrm>
            <a:off x="5806440" y="2168191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by ATLASSIAN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6200447-4686-A03E-C976-E857A4D27BB8}"/>
              </a:ext>
            </a:extLst>
          </p:cNvPr>
          <p:cNvSpPr/>
          <p:nvPr/>
        </p:nvSpPr>
        <p:spPr>
          <a:xfrm>
            <a:off x="5806440" y="2597959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completo con todas las tareas del proyecto.</a:t>
            </a:r>
            <a:endParaRPr lang="en-US" sz="12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2401C1B-15AB-A346-8A2D-66FD847AF661}"/>
              </a:ext>
            </a:extLst>
          </p:cNvPr>
          <p:cNvSpPr/>
          <p:nvPr/>
        </p:nvSpPr>
        <p:spPr>
          <a:xfrm>
            <a:off x="5806440" y="3018583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aceptación definidos por ticket.</a:t>
            </a:r>
            <a:endParaRPr lang="en-US" sz="12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B4603675-E601-07E0-B558-03AC782018AB}"/>
              </a:ext>
            </a:extLst>
          </p:cNvPr>
          <p:cNvSpPr/>
          <p:nvPr/>
        </p:nvSpPr>
        <p:spPr>
          <a:xfrm>
            <a:off x="5806440" y="3439207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To Do → In Progress → Done.</a:t>
            </a:r>
            <a:endParaRPr lang="en-US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526C861-3ADB-F5D4-B346-56A863DE79A6}"/>
              </a:ext>
            </a:extLst>
          </p:cNvPr>
          <p:cNvSpPr/>
          <p:nvPr/>
        </p:nvSpPr>
        <p:spPr>
          <a:xfrm>
            <a:off x="5806440" y="3859831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vinculados a entregables técnicos.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511CBC9-0A71-C908-B2E8-6DCB63C29BA4}"/>
              </a:ext>
            </a:extLst>
          </p:cNvPr>
          <p:cNvSpPr/>
          <p:nvPr/>
        </p:nvSpPr>
        <p:spPr>
          <a:xfrm>
            <a:off x="5806440" y="4280455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CD"/>
                </a:solidFill>
              </a:rPr>
              <a:t xml:space="preserve">▶ </a:t>
            </a: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KANBAN para medir velocidad del equipo.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11 · IMPLEMENTACIÓN — Módulos principales del sistema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60899" y="1615212"/>
            <a:ext cx="4069080" cy="205740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260899" y="1615212"/>
            <a:ext cx="73152" cy="205740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43779" y="17066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3779" y="2145564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Gaussiano/mediana, normalización Macenko, CLAHE, detección de ROI automática.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95739" y="1615212"/>
            <a:ext cx="4069080" cy="205740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695739" y="1615212"/>
            <a:ext cx="73152" cy="205740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878619" y="17066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(Mask R-CNN)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8619" y="2145564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ResNet-50/101 + FPN. Dataset CryoNuSeg (665 imgs). Transfer learning desde COCO.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899" y="3855492"/>
            <a:ext cx="4069080" cy="205740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60899" y="3855492"/>
            <a:ext cx="73152" cy="205740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43779" y="39469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Morfometría + Clustering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779" y="4385844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features geométricos por fibra. DBSCAN para clustering de fibras tipo I/II.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95739" y="3855492"/>
            <a:ext cx="4069080" cy="2057400"/>
          </a:xfrm>
          <a:prstGeom prst="rect">
            <a:avLst/>
          </a:prstGeom>
          <a:solidFill>
            <a:srgbClr val="F5FBFE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695739" y="3855492"/>
            <a:ext cx="73152" cy="205740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878619" y="39469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RL (Orientación)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78619" y="4385844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DQN/PPO. Recompensa basada en SSIM/MSE. Imágenes sintéticas 0°-180°. Histograma angular.</a:t>
            </a:r>
            <a:endParaRPr lang="en-US" sz="13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300721F2-4278-6125-C2EA-87849691D637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 · DESPLIEGUE — Interfaz Gráfica de Usuario (GUI)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760196"/>
            <a:ext cx="8412480" cy="292608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76019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SmartCell AI    Archivo    Análisis    Herramientas    Ayuda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089380"/>
            <a:ext cx="512064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60" y="20893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 de Imagen WSI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(Zoom / Pan)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23560" y="2089380"/>
            <a:ext cx="3154680" cy="3291840"/>
          </a:xfrm>
          <a:prstGeom prst="rect">
            <a:avLst/>
          </a:prstGeom>
          <a:solidFill>
            <a:srgbClr val="FCFCFC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623560" y="215338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Resultados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583156"/>
            <a:ext cx="2971800" cy="402336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715000" y="258315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de fibras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3095220"/>
            <a:ext cx="2971800" cy="402336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715000" y="309522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(Dice, IoU)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3607284"/>
            <a:ext cx="2971800" cy="402336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715000" y="360728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angular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4119348"/>
            <a:ext cx="2971800" cy="402336"/>
          </a:xfrm>
          <a:prstGeom prst="rect">
            <a:avLst/>
          </a:prstGeom>
          <a:solidFill>
            <a:srgbClr val="E6F5FB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715000" y="411934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CSV / PDF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5823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Tkinter  ·  ttkbootstrap  ·  Pillow  ·  OpenCV  ·  PyInstaller</a:t>
            </a:r>
            <a:endParaRPr lang="en-US" sz="12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EC5058DA-C6FE-8E60-72DA-8783319D49F6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13 · VALIDACIÓN EXPERIMENTAL — Protocolo de evaluación</a:t>
            </a:r>
            <a:endParaRPr lang="en-US" sz="2400" dirty="0"/>
          </a:p>
        </p:txBody>
      </p:sp>
      <p:sp>
        <p:nvSpPr>
          <p:cNvPr id="63" name="Shape 13">
            <a:extLst>
              <a:ext uri="{FF2B5EF4-FFF2-40B4-BE49-F238E27FC236}">
                <a16:creationId xmlns:a16="http://schemas.microsoft.com/office/drawing/2014/main" id="{9C6BD687-58D9-FD22-1E34-DB3A0DA887D5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ADAC8454-77F9-556B-DE39-C79EEC16A291}"/>
              </a:ext>
            </a:extLst>
          </p:cNvPr>
          <p:cNvSpPr/>
          <p:nvPr/>
        </p:nvSpPr>
        <p:spPr>
          <a:xfrm>
            <a:off x="225836" y="1618488"/>
            <a:ext cx="2176272" cy="53949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223E23CE-9EFB-538C-C8AC-911D199A05A5}"/>
              </a:ext>
            </a:extLst>
          </p:cNvPr>
          <p:cNvSpPr/>
          <p:nvPr/>
        </p:nvSpPr>
        <p:spPr>
          <a:xfrm>
            <a:off x="298988" y="1618488"/>
            <a:ext cx="20848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</a:t>
            </a:r>
            <a:endParaRPr lang="en-US" sz="1150" dirty="0"/>
          </a:p>
        </p:txBody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07C42CA2-0E7E-D171-BD18-51BA852245A3}"/>
              </a:ext>
            </a:extLst>
          </p:cNvPr>
          <p:cNvSpPr/>
          <p:nvPr/>
        </p:nvSpPr>
        <p:spPr>
          <a:xfrm>
            <a:off x="2402108" y="1618488"/>
            <a:ext cx="2624328" cy="53949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43DCC415-5E22-BF32-C142-3D724330251B}"/>
              </a:ext>
            </a:extLst>
          </p:cNvPr>
          <p:cNvSpPr/>
          <p:nvPr/>
        </p:nvSpPr>
        <p:spPr>
          <a:xfrm>
            <a:off x="2475260" y="1618488"/>
            <a:ext cx="253288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1150" dirty="0"/>
          </a:p>
        </p:txBody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297BA29F-54D0-7AC4-1BF2-50CC087EF68C}"/>
              </a:ext>
            </a:extLst>
          </p:cNvPr>
          <p:cNvSpPr/>
          <p:nvPr/>
        </p:nvSpPr>
        <p:spPr>
          <a:xfrm>
            <a:off x="5026436" y="1618488"/>
            <a:ext cx="1984248" cy="53949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89D26B53-4B24-54E9-C219-C1CC619D132F}"/>
              </a:ext>
            </a:extLst>
          </p:cNvPr>
          <p:cNvSpPr/>
          <p:nvPr/>
        </p:nvSpPr>
        <p:spPr>
          <a:xfrm>
            <a:off x="5099588" y="1618488"/>
            <a:ext cx="1892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mínimo</a:t>
            </a:r>
            <a:endParaRPr lang="en-US" sz="1150" dirty="0"/>
          </a:p>
        </p:txBody>
      </p:sp>
      <p:sp>
        <p:nvSpPr>
          <p:cNvPr id="70" name="Shape 9">
            <a:extLst>
              <a:ext uri="{FF2B5EF4-FFF2-40B4-BE49-F238E27FC236}">
                <a16:creationId xmlns:a16="http://schemas.microsoft.com/office/drawing/2014/main" id="{12B06F11-994B-0633-86E6-ACD3B9C8374D}"/>
              </a:ext>
            </a:extLst>
          </p:cNvPr>
          <p:cNvSpPr/>
          <p:nvPr/>
        </p:nvSpPr>
        <p:spPr>
          <a:xfrm>
            <a:off x="7010684" y="1618488"/>
            <a:ext cx="1719072" cy="539496"/>
          </a:xfrm>
          <a:prstGeom prst="rect">
            <a:avLst/>
          </a:prstGeom>
          <a:solidFill>
            <a:srgbClr val="005F8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D7D6EC7F-7773-89ED-03EC-64448C1628A8}"/>
              </a:ext>
            </a:extLst>
          </p:cNvPr>
          <p:cNvSpPr/>
          <p:nvPr/>
        </p:nvSpPr>
        <p:spPr>
          <a:xfrm>
            <a:off x="7083836" y="1618488"/>
            <a:ext cx="16276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150" dirty="0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340784A7-F669-5E8B-00E4-B4C40CFB1932}"/>
              </a:ext>
            </a:extLst>
          </p:cNvPr>
          <p:cNvSpPr/>
          <p:nvPr/>
        </p:nvSpPr>
        <p:spPr>
          <a:xfrm>
            <a:off x="225836" y="2157984"/>
            <a:ext cx="217627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FBEB35B0-D88C-B385-827C-78A0050E6CF6}"/>
              </a:ext>
            </a:extLst>
          </p:cNvPr>
          <p:cNvSpPr/>
          <p:nvPr/>
        </p:nvSpPr>
        <p:spPr>
          <a:xfrm>
            <a:off x="298988" y="2157984"/>
            <a:ext cx="20848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</a:t>
            </a:r>
            <a:endParaRPr lang="en-US" sz="1100" dirty="0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36D20D19-D639-C14F-86BD-E66FCEA61E36}"/>
              </a:ext>
            </a:extLst>
          </p:cNvPr>
          <p:cNvSpPr/>
          <p:nvPr/>
        </p:nvSpPr>
        <p:spPr>
          <a:xfrm>
            <a:off x="2402108" y="2157984"/>
            <a:ext cx="262432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A34337ED-1A35-0ACA-23C1-ECCB9E56AE8A}"/>
              </a:ext>
            </a:extLst>
          </p:cNvPr>
          <p:cNvSpPr/>
          <p:nvPr/>
        </p:nvSpPr>
        <p:spPr>
          <a:xfrm>
            <a:off x="2475260" y="2157984"/>
            <a:ext cx="253288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(DSC) / IoU</a:t>
            </a:r>
            <a:endParaRPr lang="en-US" sz="1100" dirty="0"/>
          </a:p>
        </p:txBody>
      </p:sp>
      <p:sp>
        <p:nvSpPr>
          <p:cNvPr id="76" name="Shape 15">
            <a:extLst>
              <a:ext uri="{FF2B5EF4-FFF2-40B4-BE49-F238E27FC236}">
                <a16:creationId xmlns:a16="http://schemas.microsoft.com/office/drawing/2014/main" id="{C0C5D505-4165-E530-52A0-702C5597E0D0}"/>
              </a:ext>
            </a:extLst>
          </p:cNvPr>
          <p:cNvSpPr/>
          <p:nvPr/>
        </p:nvSpPr>
        <p:spPr>
          <a:xfrm>
            <a:off x="5026436" y="2157984"/>
            <a:ext cx="19842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ext 16">
            <a:extLst>
              <a:ext uri="{FF2B5EF4-FFF2-40B4-BE49-F238E27FC236}">
                <a16:creationId xmlns:a16="http://schemas.microsoft.com/office/drawing/2014/main" id="{48169F2A-28E3-4050-8C34-19371954412A}"/>
              </a:ext>
            </a:extLst>
          </p:cNvPr>
          <p:cNvSpPr/>
          <p:nvPr/>
        </p:nvSpPr>
        <p:spPr>
          <a:xfrm>
            <a:off x="5099588" y="2157984"/>
            <a:ext cx="1892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 / 0.70</a:t>
            </a:r>
            <a:endParaRPr lang="en-US" sz="1100" dirty="0"/>
          </a:p>
        </p:txBody>
      </p:sp>
      <p:sp>
        <p:nvSpPr>
          <p:cNvPr id="78" name="Shape 17">
            <a:extLst>
              <a:ext uri="{FF2B5EF4-FFF2-40B4-BE49-F238E27FC236}">
                <a16:creationId xmlns:a16="http://schemas.microsoft.com/office/drawing/2014/main" id="{5A554487-F3FF-63CA-CCE9-EE239A38CBA3}"/>
              </a:ext>
            </a:extLst>
          </p:cNvPr>
          <p:cNvSpPr/>
          <p:nvPr/>
        </p:nvSpPr>
        <p:spPr>
          <a:xfrm>
            <a:off x="7010684" y="2157984"/>
            <a:ext cx="171907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Text 18">
            <a:extLst>
              <a:ext uri="{FF2B5EF4-FFF2-40B4-BE49-F238E27FC236}">
                <a16:creationId xmlns:a16="http://schemas.microsoft.com/office/drawing/2014/main" id="{1E70DB85-1A87-06AD-CD66-7127B816F281}"/>
              </a:ext>
            </a:extLst>
          </p:cNvPr>
          <p:cNvSpPr/>
          <p:nvPr/>
        </p:nvSpPr>
        <p:spPr>
          <a:xfrm>
            <a:off x="7083836" y="2157984"/>
            <a:ext cx="16276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 / 0.75</a:t>
            </a:r>
            <a:endParaRPr lang="en-US" sz="1100" dirty="0"/>
          </a:p>
        </p:txBody>
      </p:sp>
      <p:sp>
        <p:nvSpPr>
          <p:cNvPr id="80" name="Shape 19">
            <a:extLst>
              <a:ext uri="{FF2B5EF4-FFF2-40B4-BE49-F238E27FC236}">
                <a16:creationId xmlns:a16="http://schemas.microsoft.com/office/drawing/2014/main" id="{F1C311DF-48BB-0574-5C97-1342EFC7EA71}"/>
              </a:ext>
            </a:extLst>
          </p:cNvPr>
          <p:cNvSpPr/>
          <p:nvPr/>
        </p:nvSpPr>
        <p:spPr>
          <a:xfrm>
            <a:off x="225836" y="2697480"/>
            <a:ext cx="2176272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ECD4E035-7127-A2D6-9D61-568C260CD89A}"/>
              </a:ext>
            </a:extLst>
          </p:cNvPr>
          <p:cNvSpPr/>
          <p:nvPr/>
        </p:nvSpPr>
        <p:spPr>
          <a:xfrm>
            <a:off x="298988" y="2697480"/>
            <a:ext cx="20848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de fibras</a:t>
            </a:r>
            <a:endParaRPr lang="en-US" sz="1100" dirty="0"/>
          </a:p>
        </p:txBody>
      </p:sp>
      <p:sp>
        <p:nvSpPr>
          <p:cNvPr id="82" name="Shape 21">
            <a:extLst>
              <a:ext uri="{FF2B5EF4-FFF2-40B4-BE49-F238E27FC236}">
                <a16:creationId xmlns:a16="http://schemas.microsoft.com/office/drawing/2014/main" id="{179F549B-C10F-E01B-BF7A-7E0EB53356F7}"/>
              </a:ext>
            </a:extLst>
          </p:cNvPr>
          <p:cNvSpPr/>
          <p:nvPr/>
        </p:nvSpPr>
        <p:spPr>
          <a:xfrm>
            <a:off x="2402108" y="2697480"/>
            <a:ext cx="2624328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B5018FA4-AE31-AA13-5151-A2A7DD808D8F}"/>
              </a:ext>
            </a:extLst>
          </p:cNvPr>
          <p:cNvSpPr/>
          <p:nvPr/>
        </p:nvSpPr>
        <p:spPr>
          <a:xfrm>
            <a:off x="2475260" y="2697480"/>
            <a:ext cx="253288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/ Error relativo %</a:t>
            </a:r>
            <a:endParaRPr lang="en-US" sz="1100" dirty="0"/>
          </a:p>
        </p:txBody>
      </p:sp>
      <p:sp>
        <p:nvSpPr>
          <p:cNvPr id="84" name="Shape 23">
            <a:extLst>
              <a:ext uri="{FF2B5EF4-FFF2-40B4-BE49-F238E27FC236}">
                <a16:creationId xmlns:a16="http://schemas.microsoft.com/office/drawing/2014/main" id="{FFFD1FDE-075E-2948-218D-82CBEA95B64D}"/>
              </a:ext>
            </a:extLst>
          </p:cNvPr>
          <p:cNvSpPr/>
          <p:nvPr/>
        </p:nvSpPr>
        <p:spPr>
          <a:xfrm>
            <a:off x="5026436" y="2697480"/>
            <a:ext cx="1984248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D6F645DC-62B6-4BCE-E25E-DD38C26EC972}"/>
              </a:ext>
            </a:extLst>
          </p:cNvPr>
          <p:cNvSpPr/>
          <p:nvPr/>
        </p:nvSpPr>
        <p:spPr>
          <a:xfrm>
            <a:off x="5099588" y="2697480"/>
            <a:ext cx="1892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10%</a:t>
            </a:r>
            <a:endParaRPr lang="en-US" sz="1100" dirty="0"/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079D4CEF-2B1C-22AA-E2FD-0BCD44DB0D5E}"/>
              </a:ext>
            </a:extLst>
          </p:cNvPr>
          <p:cNvSpPr/>
          <p:nvPr/>
        </p:nvSpPr>
        <p:spPr>
          <a:xfrm>
            <a:off x="7010684" y="2697480"/>
            <a:ext cx="1719072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D5D63D40-EA62-4973-86DC-E804C665F809}"/>
              </a:ext>
            </a:extLst>
          </p:cNvPr>
          <p:cNvSpPr/>
          <p:nvPr/>
        </p:nvSpPr>
        <p:spPr>
          <a:xfrm>
            <a:off x="7083836" y="2697480"/>
            <a:ext cx="16276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5%</a:t>
            </a:r>
            <a:endParaRPr lang="en-US" sz="1100" dirty="0"/>
          </a:p>
        </p:txBody>
      </p:sp>
      <p:sp>
        <p:nvSpPr>
          <p:cNvPr id="88" name="Shape 27">
            <a:extLst>
              <a:ext uri="{FF2B5EF4-FFF2-40B4-BE49-F238E27FC236}">
                <a16:creationId xmlns:a16="http://schemas.microsoft.com/office/drawing/2014/main" id="{769B9FB5-490C-C703-76E9-AD1D8DA64A6A}"/>
              </a:ext>
            </a:extLst>
          </p:cNvPr>
          <p:cNvSpPr/>
          <p:nvPr/>
        </p:nvSpPr>
        <p:spPr>
          <a:xfrm>
            <a:off x="225836" y="3236976"/>
            <a:ext cx="217627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A2EEC6C5-3F34-4B07-E296-621613394396}"/>
              </a:ext>
            </a:extLst>
          </p:cNvPr>
          <p:cNvSpPr/>
          <p:nvPr/>
        </p:nvSpPr>
        <p:spPr>
          <a:xfrm>
            <a:off x="298988" y="3236976"/>
            <a:ext cx="20848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</a:t>
            </a:r>
            <a:endParaRPr lang="en-US" sz="1100" dirty="0"/>
          </a:p>
        </p:txBody>
      </p:sp>
      <p:sp>
        <p:nvSpPr>
          <p:cNvPr id="90" name="Shape 29">
            <a:extLst>
              <a:ext uri="{FF2B5EF4-FFF2-40B4-BE49-F238E27FC236}">
                <a16:creationId xmlns:a16="http://schemas.microsoft.com/office/drawing/2014/main" id="{7B5685E2-6CEB-BF2B-D4FC-1CD2FACBE9D2}"/>
              </a:ext>
            </a:extLst>
          </p:cNvPr>
          <p:cNvSpPr/>
          <p:nvPr/>
        </p:nvSpPr>
        <p:spPr>
          <a:xfrm>
            <a:off x="2402108" y="3236976"/>
            <a:ext cx="262432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30">
            <a:extLst>
              <a:ext uri="{FF2B5EF4-FFF2-40B4-BE49-F238E27FC236}">
                <a16:creationId xmlns:a16="http://schemas.microsoft.com/office/drawing/2014/main" id="{BE56BCF6-67F7-D333-4D8B-1B539D9C19A5}"/>
              </a:ext>
            </a:extLst>
          </p:cNvPr>
          <p:cNvSpPr/>
          <p:nvPr/>
        </p:nvSpPr>
        <p:spPr>
          <a:xfrm>
            <a:off x="2475260" y="3236976"/>
            <a:ext cx="253288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ΔDice ante perturbaciones</a:t>
            </a:r>
            <a:endParaRPr lang="en-US" sz="1100" dirty="0"/>
          </a:p>
        </p:txBody>
      </p:sp>
      <p:sp>
        <p:nvSpPr>
          <p:cNvPr id="92" name="Shape 31">
            <a:extLst>
              <a:ext uri="{FF2B5EF4-FFF2-40B4-BE49-F238E27FC236}">
                <a16:creationId xmlns:a16="http://schemas.microsoft.com/office/drawing/2014/main" id="{7C155C24-78EE-AFE3-1201-A88855858B85}"/>
              </a:ext>
            </a:extLst>
          </p:cNvPr>
          <p:cNvSpPr/>
          <p:nvPr/>
        </p:nvSpPr>
        <p:spPr>
          <a:xfrm>
            <a:off x="5026436" y="3236976"/>
            <a:ext cx="19842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65677434-440A-4294-061C-BA05721E2AA7}"/>
              </a:ext>
            </a:extLst>
          </p:cNvPr>
          <p:cNvSpPr/>
          <p:nvPr/>
        </p:nvSpPr>
        <p:spPr>
          <a:xfrm>
            <a:off x="5099588" y="3236976"/>
            <a:ext cx="1892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</a:t>
            </a:r>
            <a:endParaRPr lang="en-US" sz="1100" dirty="0"/>
          </a:p>
        </p:txBody>
      </p:sp>
      <p:sp>
        <p:nvSpPr>
          <p:cNvPr id="94" name="Shape 33">
            <a:extLst>
              <a:ext uri="{FF2B5EF4-FFF2-40B4-BE49-F238E27FC236}">
                <a16:creationId xmlns:a16="http://schemas.microsoft.com/office/drawing/2014/main" id="{E531C9F7-1E35-4DB7-C525-0DDA6B6CCA02}"/>
              </a:ext>
            </a:extLst>
          </p:cNvPr>
          <p:cNvSpPr/>
          <p:nvPr/>
        </p:nvSpPr>
        <p:spPr>
          <a:xfrm>
            <a:off x="7010684" y="3236976"/>
            <a:ext cx="171907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Text 34">
            <a:extLst>
              <a:ext uri="{FF2B5EF4-FFF2-40B4-BE49-F238E27FC236}">
                <a16:creationId xmlns:a16="http://schemas.microsoft.com/office/drawing/2014/main" id="{F7CA0F4F-8C43-B69A-1EBF-204E2C51AD56}"/>
              </a:ext>
            </a:extLst>
          </p:cNvPr>
          <p:cNvSpPr/>
          <p:nvPr/>
        </p:nvSpPr>
        <p:spPr>
          <a:xfrm>
            <a:off x="7083836" y="3236976"/>
            <a:ext cx="16276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10% degradación</a:t>
            </a:r>
            <a:endParaRPr lang="en-US" sz="1100" dirty="0"/>
          </a:p>
        </p:txBody>
      </p:sp>
      <p:sp>
        <p:nvSpPr>
          <p:cNvPr id="96" name="Shape 35">
            <a:extLst>
              <a:ext uri="{FF2B5EF4-FFF2-40B4-BE49-F238E27FC236}">
                <a16:creationId xmlns:a16="http://schemas.microsoft.com/office/drawing/2014/main" id="{6793B560-5F06-ED76-E714-EC3A9D9BD143}"/>
              </a:ext>
            </a:extLst>
          </p:cNvPr>
          <p:cNvSpPr/>
          <p:nvPr/>
        </p:nvSpPr>
        <p:spPr>
          <a:xfrm>
            <a:off x="225836" y="3776472"/>
            <a:ext cx="2176272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7" name="Text 36">
            <a:extLst>
              <a:ext uri="{FF2B5EF4-FFF2-40B4-BE49-F238E27FC236}">
                <a16:creationId xmlns:a16="http://schemas.microsoft.com/office/drawing/2014/main" id="{710CFE40-D911-0F9D-88AD-821982C3BA6E}"/>
              </a:ext>
            </a:extLst>
          </p:cNvPr>
          <p:cNvSpPr/>
          <p:nvPr/>
        </p:nvSpPr>
        <p:spPr>
          <a:xfrm>
            <a:off x="298988" y="3776472"/>
            <a:ext cx="20848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computacional</a:t>
            </a:r>
            <a:endParaRPr lang="en-US" sz="1100" dirty="0"/>
          </a:p>
        </p:txBody>
      </p:sp>
      <p:sp>
        <p:nvSpPr>
          <p:cNvPr id="98" name="Shape 37">
            <a:extLst>
              <a:ext uri="{FF2B5EF4-FFF2-40B4-BE49-F238E27FC236}">
                <a16:creationId xmlns:a16="http://schemas.microsoft.com/office/drawing/2014/main" id="{AB3AACC0-A71E-1DA1-B2A0-9629ACD74A55}"/>
              </a:ext>
            </a:extLst>
          </p:cNvPr>
          <p:cNvSpPr/>
          <p:nvPr/>
        </p:nvSpPr>
        <p:spPr>
          <a:xfrm>
            <a:off x="2402108" y="3776472"/>
            <a:ext cx="2624328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9" name="Text 38">
            <a:extLst>
              <a:ext uri="{FF2B5EF4-FFF2-40B4-BE49-F238E27FC236}">
                <a16:creationId xmlns:a16="http://schemas.microsoft.com/office/drawing/2014/main" id="{2FA68FC5-CC77-7E50-EBF8-1606622D7138}"/>
              </a:ext>
            </a:extLst>
          </p:cNvPr>
          <p:cNvSpPr/>
          <p:nvPr/>
        </p:nvSpPr>
        <p:spPr>
          <a:xfrm>
            <a:off x="2475260" y="3776472"/>
            <a:ext cx="253288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/ ROI</a:t>
            </a:r>
            <a:endParaRPr lang="en-US" sz="1100" dirty="0"/>
          </a:p>
        </p:txBody>
      </p:sp>
      <p:sp>
        <p:nvSpPr>
          <p:cNvPr id="100" name="Shape 39">
            <a:extLst>
              <a:ext uri="{FF2B5EF4-FFF2-40B4-BE49-F238E27FC236}">
                <a16:creationId xmlns:a16="http://schemas.microsoft.com/office/drawing/2014/main" id="{AD8CA441-E7A0-47A6-05A9-BD6DCE546DC8}"/>
              </a:ext>
            </a:extLst>
          </p:cNvPr>
          <p:cNvSpPr/>
          <p:nvPr/>
        </p:nvSpPr>
        <p:spPr>
          <a:xfrm>
            <a:off x="5026436" y="3776472"/>
            <a:ext cx="1984248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5B2CA85A-D2B5-FD6F-214F-6A0D8DF92504}"/>
              </a:ext>
            </a:extLst>
          </p:cNvPr>
          <p:cNvSpPr/>
          <p:nvPr/>
        </p:nvSpPr>
        <p:spPr>
          <a:xfrm>
            <a:off x="5099588" y="3776472"/>
            <a:ext cx="1892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min</a:t>
            </a:r>
            <a:endParaRPr lang="en-US" sz="1100" dirty="0"/>
          </a:p>
        </p:txBody>
      </p:sp>
      <p:sp>
        <p:nvSpPr>
          <p:cNvPr id="102" name="Shape 41">
            <a:extLst>
              <a:ext uri="{FF2B5EF4-FFF2-40B4-BE49-F238E27FC236}">
                <a16:creationId xmlns:a16="http://schemas.microsoft.com/office/drawing/2014/main" id="{FA5EFA28-B83E-5AAC-E771-DA4BB0B54F0F}"/>
              </a:ext>
            </a:extLst>
          </p:cNvPr>
          <p:cNvSpPr/>
          <p:nvPr/>
        </p:nvSpPr>
        <p:spPr>
          <a:xfrm>
            <a:off x="7010684" y="3776472"/>
            <a:ext cx="1719072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3" name="Text 42">
            <a:extLst>
              <a:ext uri="{FF2B5EF4-FFF2-40B4-BE49-F238E27FC236}">
                <a16:creationId xmlns:a16="http://schemas.microsoft.com/office/drawing/2014/main" id="{DF1071B6-8626-1A75-6E6E-7EA8E169A245}"/>
              </a:ext>
            </a:extLst>
          </p:cNvPr>
          <p:cNvSpPr/>
          <p:nvPr/>
        </p:nvSpPr>
        <p:spPr>
          <a:xfrm>
            <a:off x="7083836" y="3776472"/>
            <a:ext cx="16276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30 s/ROI</a:t>
            </a:r>
            <a:endParaRPr lang="en-US" sz="1100" dirty="0"/>
          </a:p>
        </p:txBody>
      </p:sp>
      <p:sp>
        <p:nvSpPr>
          <p:cNvPr id="104" name="Shape 43">
            <a:extLst>
              <a:ext uri="{FF2B5EF4-FFF2-40B4-BE49-F238E27FC236}">
                <a16:creationId xmlns:a16="http://schemas.microsoft.com/office/drawing/2014/main" id="{420D1BB1-94DD-2AD7-1D2E-740D57CA5C28}"/>
              </a:ext>
            </a:extLst>
          </p:cNvPr>
          <p:cNvSpPr/>
          <p:nvPr/>
        </p:nvSpPr>
        <p:spPr>
          <a:xfrm>
            <a:off x="225836" y="4315968"/>
            <a:ext cx="217627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5" name="Text 44">
            <a:extLst>
              <a:ext uri="{FF2B5EF4-FFF2-40B4-BE49-F238E27FC236}">
                <a16:creationId xmlns:a16="http://schemas.microsoft.com/office/drawing/2014/main" id="{55B37AFD-405B-24D0-45FF-DB0C450C39FE}"/>
              </a:ext>
            </a:extLst>
          </p:cNvPr>
          <p:cNvSpPr/>
          <p:nvPr/>
        </p:nvSpPr>
        <p:spPr>
          <a:xfrm>
            <a:off x="298988" y="4315968"/>
            <a:ext cx="20848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RL</a:t>
            </a:r>
            <a:endParaRPr lang="en-US" sz="1100" dirty="0"/>
          </a:p>
        </p:txBody>
      </p:sp>
      <p:sp>
        <p:nvSpPr>
          <p:cNvPr id="106" name="Shape 45">
            <a:extLst>
              <a:ext uri="{FF2B5EF4-FFF2-40B4-BE49-F238E27FC236}">
                <a16:creationId xmlns:a16="http://schemas.microsoft.com/office/drawing/2014/main" id="{4B3E1BFB-461C-2130-F736-CB627055418D}"/>
              </a:ext>
            </a:extLst>
          </p:cNvPr>
          <p:cNvSpPr/>
          <p:nvPr/>
        </p:nvSpPr>
        <p:spPr>
          <a:xfrm>
            <a:off x="2402108" y="4315968"/>
            <a:ext cx="262432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46">
            <a:extLst>
              <a:ext uri="{FF2B5EF4-FFF2-40B4-BE49-F238E27FC236}">
                <a16:creationId xmlns:a16="http://schemas.microsoft.com/office/drawing/2014/main" id="{20AB073B-2E2D-2B1F-8412-F244DC881CE4}"/>
              </a:ext>
            </a:extLst>
          </p:cNvPr>
          <p:cNvSpPr/>
          <p:nvPr/>
        </p:nvSpPr>
        <p:spPr>
          <a:xfrm>
            <a:off x="2475260" y="4315968"/>
            <a:ext cx="253288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angular medio</a:t>
            </a:r>
            <a:endParaRPr lang="en-US" sz="1100" dirty="0"/>
          </a:p>
        </p:txBody>
      </p:sp>
      <p:sp>
        <p:nvSpPr>
          <p:cNvPr id="108" name="Shape 47">
            <a:extLst>
              <a:ext uri="{FF2B5EF4-FFF2-40B4-BE49-F238E27FC236}">
                <a16:creationId xmlns:a16="http://schemas.microsoft.com/office/drawing/2014/main" id="{FBD9C352-87AD-C931-9C13-52DB1C8EE99E}"/>
              </a:ext>
            </a:extLst>
          </p:cNvPr>
          <p:cNvSpPr/>
          <p:nvPr/>
        </p:nvSpPr>
        <p:spPr>
          <a:xfrm>
            <a:off x="5026436" y="4315968"/>
            <a:ext cx="19842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9" name="Text 48">
            <a:extLst>
              <a:ext uri="{FF2B5EF4-FFF2-40B4-BE49-F238E27FC236}">
                <a16:creationId xmlns:a16="http://schemas.microsoft.com/office/drawing/2014/main" id="{796CC4C5-41E7-532E-6869-500C0D46DF39}"/>
              </a:ext>
            </a:extLst>
          </p:cNvPr>
          <p:cNvSpPr/>
          <p:nvPr/>
        </p:nvSpPr>
        <p:spPr>
          <a:xfrm>
            <a:off x="5099588" y="4315968"/>
            <a:ext cx="1892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10°</a:t>
            </a:r>
            <a:endParaRPr lang="en-US" sz="1100" dirty="0"/>
          </a:p>
        </p:txBody>
      </p:sp>
      <p:sp>
        <p:nvSpPr>
          <p:cNvPr id="110" name="Shape 49">
            <a:extLst>
              <a:ext uri="{FF2B5EF4-FFF2-40B4-BE49-F238E27FC236}">
                <a16:creationId xmlns:a16="http://schemas.microsoft.com/office/drawing/2014/main" id="{00423DE2-C291-67E8-A57C-BD98A26734B2}"/>
              </a:ext>
            </a:extLst>
          </p:cNvPr>
          <p:cNvSpPr/>
          <p:nvPr/>
        </p:nvSpPr>
        <p:spPr>
          <a:xfrm>
            <a:off x="7010684" y="4315968"/>
            <a:ext cx="171907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1" name="Text 50">
            <a:extLst>
              <a:ext uri="{FF2B5EF4-FFF2-40B4-BE49-F238E27FC236}">
                <a16:creationId xmlns:a16="http://schemas.microsoft.com/office/drawing/2014/main" id="{F3644996-A522-AE79-D2C5-57593E400DDE}"/>
              </a:ext>
            </a:extLst>
          </p:cNvPr>
          <p:cNvSpPr/>
          <p:nvPr/>
        </p:nvSpPr>
        <p:spPr>
          <a:xfrm>
            <a:off x="7083836" y="4315968"/>
            <a:ext cx="16276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5°</a:t>
            </a:r>
            <a:endParaRPr lang="en-US" sz="1100" dirty="0"/>
          </a:p>
        </p:txBody>
      </p:sp>
      <p:sp>
        <p:nvSpPr>
          <p:cNvPr id="112" name="Shape 51">
            <a:extLst>
              <a:ext uri="{FF2B5EF4-FFF2-40B4-BE49-F238E27FC236}">
                <a16:creationId xmlns:a16="http://schemas.microsoft.com/office/drawing/2014/main" id="{DE8BC4EC-5411-BCE9-251B-9C3398F48EB7}"/>
              </a:ext>
            </a:extLst>
          </p:cNvPr>
          <p:cNvSpPr/>
          <p:nvPr/>
        </p:nvSpPr>
        <p:spPr>
          <a:xfrm>
            <a:off x="225836" y="4855464"/>
            <a:ext cx="2176272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3" name="Text 52">
            <a:extLst>
              <a:ext uri="{FF2B5EF4-FFF2-40B4-BE49-F238E27FC236}">
                <a16:creationId xmlns:a16="http://schemas.microsoft.com/office/drawing/2014/main" id="{CDFE5996-C387-A428-07C3-79820389A9E5}"/>
              </a:ext>
            </a:extLst>
          </p:cNvPr>
          <p:cNvSpPr/>
          <p:nvPr/>
        </p:nvSpPr>
        <p:spPr>
          <a:xfrm>
            <a:off x="298988" y="4855464"/>
            <a:ext cx="20848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 GUI</a:t>
            </a:r>
            <a:endParaRPr lang="en-US" sz="1100" dirty="0"/>
          </a:p>
        </p:txBody>
      </p:sp>
      <p:sp>
        <p:nvSpPr>
          <p:cNvPr id="114" name="Shape 53">
            <a:extLst>
              <a:ext uri="{FF2B5EF4-FFF2-40B4-BE49-F238E27FC236}">
                <a16:creationId xmlns:a16="http://schemas.microsoft.com/office/drawing/2014/main" id="{05A385F3-F719-DD94-D834-927F9609DDF2}"/>
              </a:ext>
            </a:extLst>
          </p:cNvPr>
          <p:cNvSpPr/>
          <p:nvPr/>
        </p:nvSpPr>
        <p:spPr>
          <a:xfrm>
            <a:off x="2402108" y="4855464"/>
            <a:ext cx="2624328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5" name="Text 54">
            <a:extLst>
              <a:ext uri="{FF2B5EF4-FFF2-40B4-BE49-F238E27FC236}">
                <a16:creationId xmlns:a16="http://schemas.microsoft.com/office/drawing/2014/main" id="{78D05FBC-B35E-0C75-6580-B47BAED7EA16}"/>
              </a:ext>
            </a:extLst>
          </p:cNvPr>
          <p:cNvSpPr/>
          <p:nvPr/>
        </p:nvSpPr>
        <p:spPr>
          <a:xfrm>
            <a:off x="2475260" y="4855464"/>
            <a:ext cx="253288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/ Tiempo de tarea</a:t>
            </a:r>
            <a:endParaRPr lang="en-US" sz="1100" dirty="0"/>
          </a:p>
        </p:txBody>
      </p:sp>
      <p:sp>
        <p:nvSpPr>
          <p:cNvPr id="116" name="Shape 55">
            <a:extLst>
              <a:ext uri="{FF2B5EF4-FFF2-40B4-BE49-F238E27FC236}">
                <a16:creationId xmlns:a16="http://schemas.microsoft.com/office/drawing/2014/main" id="{EAE5CCC8-D4F3-47D1-2518-10DF6F978940}"/>
              </a:ext>
            </a:extLst>
          </p:cNvPr>
          <p:cNvSpPr/>
          <p:nvPr/>
        </p:nvSpPr>
        <p:spPr>
          <a:xfrm>
            <a:off x="5026436" y="4855464"/>
            <a:ext cx="1984248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7" name="Text 56">
            <a:extLst>
              <a:ext uri="{FF2B5EF4-FFF2-40B4-BE49-F238E27FC236}">
                <a16:creationId xmlns:a16="http://schemas.microsoft.com/office/drawing/2014/main" id="{71ADA24F-5344-1025-CFB4-004499B0B08D}"/>
              </a:ext>
            </a:extLst>
          </p:cNvPr>
          <p:cNvSpPr/>
          <p:nvPr/>
        </p:nvSpPr>
        <p:spPr>
          <a:xfrm>
            <a:off x="5099588" y="4855464"/>
            <a:ext cx="1892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 / ≤ 8 min</a:t>
            </a:r>
            <a:endParaRPr lang="en-US" sz="1100" dirty="0"/>
          </a:p>
        </p:txBody>
      </p:sp>
      <p:sp>
        <p:nvSpPr>
          <p:cNvPr id="118" name="Shape 57">
            <a:extLst>
              <a:ext uri="{FF2B5EF4-FFF2-40B4-BE49-F238E27FC236}">
                <a16:creationId xmlns:a16="http://schemas.microsoft.com/office/drawing/2014/main" id="{94B0DE43-041F-184E-2038-609401F6AA14}"/>
              </a:ext>
            </a:extLst>
          </p:cNvPr>
          <p:cNvSpPr/>
          <p:nvPr/>
        </p:nvSpPr>
        <p:spPr>
          <a:xfrm>
            <a:off x="7010684" y="4855464"/>
            <a:ext cx="1719072" cy="539496"/>
          </a:xfrm>
          <a:prstGeom prst="rect">
            <a:avLst/>
          </a:prstGeom>
          <a:solidFill>
            <a:srgbClr val="E8F6FD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9" name="Text 58">
            <a:extLst>
              <a:ext uri="{FF2B5EF4-FFF2-40B4-BE49-F238E27FC236}">
                <a16:creationId xmlns:a16="http://schemas.microsoft.com/office/drawing/2014/main" id="{FBA6A4EB-C0A6-C671-2032-01F458B8A4B1}"/>
              </a:ext>
            </a:extLst>
          </p:cNvPr>
          <p:cNvSpPr/>
          <p:nvPr/>
        </p:nvSpPr>
        <p:spPr>
          <a:xfrm>
            <a:off x="7083836" y="4855464"/>
            <a:ext cx="162763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70 / ≤ 5 min</a:t>
            </a:r>
            <a:endParaRPr lang="en-US" sz="1100" dirty="0"/>
          </a:p>
        </p:txBody>
      </p:sp>
      <p:sp>
        <p:nvSpPr>
          <p:cNvPr id="120" name="Shape 59">
            <a:extLst>
              <a:ext uri="{FF2B5EF4-FFF2-40B4-BE49-F238E27FC236}">
                <a16:creationId xmlns:a16="http://schemas.microsoft.com/office/drawing/2014/main" id="{9E30F570-5C69-315F-858D-D454849C15A1}"/>
              </a:ext>
            </a:extLst>
          </p:cNvPr>
          <p:cNvSpPr/>
          <p:nvPr/>
        </p:nvSpPr>
        <p:spPr>
          <a:xfrm>
            <a:off x="225836" y="5458968"/>
            <a:ext cx="8595360" cy="365760"/>
          </a:xfrm>
          <a:prstGeom prst="rect">
            <a:avLst/>
          </a:prstGeom>
          <a:solidFill>
            <a:srgbClr val="F0F7FB"/>
          </a:solidFill>
          <a:ln w="12700">
            <a:solidFill>
              <a:srgbClr val="DDF0F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1" name="Text 60">
            <a:extLst>
              <a:ext uri="{FF2B5EF4-FFF2-40B4-BE49-F238E27FC236}">
                <a16:creationId xmlns:a16="http://schemas.microsoft.com/office/drawing/2014/main" id="{BF318088-9ACC-E577-03DB-B4FF1078F56A}"/>
              </a:ext>
            </a:extLst>
          </p:cNvPr>
          <p:cNvSpPr/>
          <p:nvPr/>
        </p:nvSpPr>
        <p:spPr>
          <a:xfrm>
            <a:off x="335564" y="54589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vs. conteo manual experto + MyoSAT + Charisma  ·  Análisis estadístico: pruebas t y ANOVA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CONCLUSIONES Y TRABAJO FUTURO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8962" y="128607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98C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Contribuciones y líneas de trabajo futuro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246194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1817428E-E3F9-E39D-4E4B-92CB1078C401}"/>
              </a:ext>
            </a:extLst>
          </p:cNvPr>
          <p:cNvSpPr/>
          <p:nvPr/>
        </p:nvSpPr>
        <p:spPr>
          <a:xfrm>
            <a:off x="0" y="855532"/>
            <a:ext cx="9144000" cy="45719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8E48331B-13B2-7EB3-53C3-467944BD20E7}"/>
              </a:ext>
            </a:extLst>
          </p:cNvPr>
          <p:cNvSpPr/>
          <p:nvPr/>
        </p:nvSpPr>
        <p:spPr>
          <a:xfrm>
            <a:off x="457200" y="1371600"/>
            <a:ext cx="8229600" cy="749808"/>
          </a:xfrm>
          <a:prstGeom prst="rect">
            <a:avLst/>
          </a:prstGeom>
          <a:solidFill>
            <a:srgbClr val="F0F7FB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BE4A719-3665-F35C-5373-86F2121CDA58}"/>
              </a:ext>
            </a:extLst>
          </p:cNvPr>
          <p:cNvSpPr/>
          <p:nvPr/>
        </p:nvSpPr>
        <p:spPr>
          <a:xfrm>
            <a:off x="457200" y="1371600"/>
            <a:ext cx="64008" cy="749808"/>
          </a:xfrm>
          <a:prstGeom prst="rect">
            <a:avLst/>
          </a:prstGeom>
          <a:solidFill>
            <a:srgbClr val="00B4C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1461F1A-9ADA-F556-F85F-BBED3568D725}"/>
              </a:ext>
            </a:extLst>
          </p:cNvPr>
          <p:cNvSpPr/>
          <p:nvPr/>
        </p:nvSpPr>
        <p:spPr>
          <a:xfrm>
            <a:off x="640080" y="1444752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presenta el diseño conceptual de un sistema que combina Mask R-CNN y aprendizaje por refuerzo para la cuantificación automática de fibras musculares en microscopía óptica convencional, integrando segmentación de instancias, morfometría y estimación de orientación angular sin necesidad de tomografía DTI.</a:t>
            </a:r>
            <a:endParaRPr lang="en-US" sz="12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6DBB673-44B7-4D18-712B-EEB98010024C}"/>
              </a:ext>
            </a:extLst>
          </p:cNvPr>
          <p:cNvSpPr/>
          <p:nvPr/>
        </p:nvSpPr>
        <p:spPr>
          <a:xfrm>
            <a:off x="457200" y="2240280"/>
            <a:ext cx="4005072" cy="10972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98C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5BD494F-5307-14BE-2315-6C79C0E35214}"/>
              </a:ext>
            </a:extLst>
          </p:cNvPr>
          <p:cNvSpPr/>
          <p:nvPr/>
        </p:nvSpPr>
        <p:spPr>
          <a:xfrm>
            <a:off x="457200" y="2240280"/>
            <a:ext cx="64008" cy="109728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FD03B66-0446-2C96-C135-8E07B57E6357}"/>
              </a:ext>
            </a:extLst>
          </p:cNvPr>
          <p:cNvSpPr/>
          <p:nvPr/>
        </p:nvSpPr>
        <p:spPr>
          <a:xfrm>
            <a:off x="621792" y="2313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3D</a:t>
            </a:r>
            <a:endParaRPr lang="en-US" sz="13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29F73364-B5C2-D873-A6D9-3BCEE229845E}"/>
              </a:ext>
            </a:extLst>
          </p:cNvPr>
          <p:cNvSpPr/>
          <p:nvPr/>
        </p:nvSpPr>
        <p:spPr>
          <a:xfrm>
            <a:off x="621792" y="26609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Tomografía computarizada para cuantificación volumétrica de fibras.</a:t>
            </a:r>
            <a:endParaRPr lang="en-US" sz="115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FB3B3974-9DB8-C05B-6D6C-5EA716CBD706}"/>
              </a:ext>
            </a:extLst>
          </p:cNvPr>
          <p:cNvSpPr/>
          <p:nvPr/>
        </p:nvSpPr>
        <p:spPr>
          <a:xfrm>
            <a:off x="4709160" y="2240280"/>
            <a:ext cx="4005072" cy="10972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6B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C018B53C-8B97-C9F9-0951-9E13CECD09A8}"/>
              </a:ext>
            </a:extLst>
          </p:cNvPr>
          <p:cNvSpPr/>
          <p:nvPr/>
        </p:nvSpPr>
        <p:spPr>
          <a:xfrm>
            <a:off x="4709160" y="2240280"/>
            <a:ext cx="64008" cy="1097280"/>
          </a:xfrm>
          <a:prstGeom prst="rect">
            <a:avLst/>
          </a:prstGeom>
          <a:solidFill>
            <a:srgbClr val="006B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1907E520-C532-507A-7F70-8E6FBF1A4E20}"/>
              </a:ext>
            </a:extLst>
          </p:cNvPr>
          <p:cNvSpPr/>
          <p:nvPr/>
        </p:nvSpPr>
        <p:spPr>
          <a:xfrm>
            <a:off x="4873752" y="2313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tipo I/II</a:t>
            </a:r>
            <a:endParaRPr lang="en-US" sz="13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DB749D60-997C-5B0D-62C7-290B65A5BCBE}"/>
              </a:ext>
            </a:extLst>
          </p:cNvPr>
          <p:cNvSpPr/>
          <p:nvPr/>
        </p:nvSpPr>
        <p:spPr>
          <a:xfrm>
            <a:off x="4873752" y="26609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Clasificador automático para distinguir fibras de contracción rápida y lenta.</a:t>
            </a:r>
            <a:endParaRPr lang="en-US" sz="115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54C92241-5BD7-5693-8B2D-A2A808255E4D}"/>
              </a:ext>
            </a:extLst>
          </p:cNvPr>
          <p:cNvSpPr/>
          <p:nvPr/>
        </p:nvSpPr>
        <p:spPr>
          <a:xfrm>
            <a:off x="457200" y="3502152"/>
            <a:ext cx="4005072" cy="1097280"/>
          </a:xfrm>
          <a:prstGeom prst="rect">
            <a:avLst/>
          </a:prstGeom>
          <a:solidFill>
            <a:srgbClr val="E8F6FD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288DF766-B4BD-27D0-1707-16BD7B5F4BF2}"/>
              </a:ext>
            </a:extLst>
          </p:cNvPr>
          <p:cNvSpPr/>
          <p:nvPr/>
        </p:nvSpPr>
        <p:spPr>
          <a:xfrm>
            <a:off x="457200" y="3502152"/>
            <a:ext cx="64008" cy="1097280"/>
          </a:xfrm>
          <a:prstGeom prst="rect">
            <a:avLst/>
          </a:prstGeom>
          <a:solidFill>
            <a:srgbClr val="00B4C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D74DABCB-1E09-493E-42A7-4DEACA9E4C5B}"/>
              </a:ext>
            </a:extLst>
          </p:cNvPr>
          <p:cNvSpPr/>
          <p:nvPr/>
        </p:nvSpPr>
        <p:spPr>
          <a:xfrm>
            <a:off x="621792" y="3575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tisular</a:t>
            </a:r>
            <a:endParaRPr lang="en-US" sz="13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77980DB3-3DCA-08DC-F245-FFF0FE54ED93}"/>
              </a:ext>
            </a:extLst>
          </p:cNvPr>
          <p:cNvSpPr/>
          <p:nvPr/>
        </p:nvSpPr>
        <p:spPr>
          <a:xfrm>
            <a:off x="621792" y="39227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Adaptación a otros tejidos biológicos y aplicaciones neonatológicas.</a:t>
            </a:r>
            <a:endParaRPr lang="en-US" sz="115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EC889926-4E44-8128-2D82-3581AE7996D5}"/>
              </a:ext>
            </a:extLst>
          </p:cNvPr>
          <p:cNvSpPr/>
          <p:nvPr/>
        </p:nvSpPr>
        <p:spPr>
          <a:xfrm>
            <a:off x="4709160" y="3502152"/>
            <a:ext cx="4005072" cy="1097280"/>
          </a:xfrm>
          <a:prstGeom prst="rect">
            <a:avLst/>
          </a:prstGeom>
          <a:solidFill>
            <a:srgbClr val="E8F6FD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0638C121-9C69-B40A-6B59-7E50B73428E1}"/>
              </a:ext>
            </a:extLst>
          </p:cNvPr>
          <p:cNvSpPr/>
          <p:nvPr/>
        </p:nvSpPr>
        <p:spPr>
          <a:xfrm>
            <a:off x="4709160" y="3502152"/>
            <a:ext cx="64008" cy="1097280"/>
          </a:xfrm>
          <a:prstGeom prst="rect">
            <a:avLst/>
          </a:prstGeom>
          <a:solidFill>
            <a:srgbClr val="E07B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90C2A3A8-0AE1-BCB5-14A7-109F709F6F78}"/>
              </a:ext>
            </a:extLst>
          </p:cNvPr>
          <p:cNvSpPr/>
          <p:nvPr/>
        </p:nvSpPr>
        <p:spPr>
          <a:xfrm>
            <a:off x="4873752" y="3575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hospitalaria</a:t>
            </a:r>
            <a:endParaRPr lang="en-US" sz="13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7A0F37F9-30F5-4A81-9E83-B8942E819180}"/>
              </a:ext>
            </a:extLst>
          </p:cNvPr>
          <p:cNvSpPr/>
          <p:nvPr/>
        </p:nvSpPr>
        <p:spPr>
          <a:xfrm>
            <a:off x="4873752" y="39227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 con sistemas DICOM/HL7 para uso clínico directo.</a:t>
            </a:r>
            <a:endParaRPr lang="en-US" sz="115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A5F20453-C43C-B5FB-813C-D34C34BA9293}"/>
              </a:ext>
            </a:extLst>
          </p:cNvPr>
          <p:cNvSpPr/>
          <p:nvPr/>
        </p:nvSpPr>
        <p:spPr>
          <a:xfrm>
            <a:off x="457200" y="49926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Bautista Mercado R.  ·  Trejo Melena J.A.  ·  Pérez Bravo O.  ·  UNIR — Maestría en IA · 2026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A1B8D34-5B22-EC0D-C546-B394CE8BA7C3}"/>
              </a:ext>
            </a:extLst>
          </p:cNvPr>
          <p:cNvSpPr>
            <a:spLocks/>
          </p:cNvSpPr>
          <p:nvPr/>
        </p:nvSpPr>
        <p:spPr bwMode="auto">
          <a:xfrm>
            <a:off x="3922713" y="5881688"/>
            <a:ext cx="17049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non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2200" b="0" i="0" u="none" strike="noStrike" kern="1200" cap="none" spc="0" normalizeH="0" baseline="0" noProof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 Narrow" panose="020B0606020202030204" pitchFamily="34" charset="0"/>
              </a:rPr>
              <a:t>www.unir.net</a:t>
            </a:r>
            <a:endParaRPr kumimoji="0" lang="es-ES_tradnl" altLang="es-E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 Narrow" panose="020B0606020202030204" pitchFamily="34" charset="0"/>
            </a:endParaRPr>
          </a:p>
        </p:txBody>
      </p:sp>
      <p:pic>
        <p:nvPicPr>
          <p:cNvPr id="12291" name="Picture 1">
            <a:extLst>
              <a:ext uri="{FF2B5EF4-FFF2-40B4-BE49-F238E27FC236}">
                <a16:creationId xmlns:a16="http://schemas.microsoft.com/office/drawing/2014/main" id="{38A8B3CC-31C3-B7D5-CA41-BE600A36A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484313"/>
            <a:ext cx="4454525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852CFE64-85CB-F283-F538-C3A2B32173DD}"/>
              </a:ext>
            </a:extLst>
          </p:cNvPr>
          <p:cNvSpPr/>
          <p:nvPr/>
        </p:nvSpPr>
        <p:spPr>
          <a:xfrm>
            <a:off x="0" y="-43367"/>
            <a:ext cx="9144000" cy="13716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863702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ció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"/>
          <p:cNvSpPr/>
          <p:nvPr/>
        </p:nvSpPr>
        <p:spPr>
          <a:xfrm>
            <a:off x="679208" y="1700000"/>
            <a:ext cx="8083296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800" dirty="0">
                <a:solidFill>
                  <a:srgbClr val="AAAAAA"/>
                </a:solidFill>
                <a:latin typeface="Arial" pitchFamily="34" charset="0"/>
              </a:rPr>
              <a:t>Sección 1 · Introducción</a:t>
            </a:r>
          </a:p>
        </p:txBody>
      </p:sp>
      <p:sp>
        <p:nvSpPr>
          <p:cNvPr id="3" name="SectionTitle"/>
          <p:cNvSpPr/>
          <p:nvPr/>
        </p:nvSpPr>
        <p:spPr>
          <a:xfrm>
            <a:off x="679208" y="2200000"/>
            <a:ext cx="8083296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4400" b="1" dirty="0">
                <a:solidFill>
                  <a:srgbClr val="0098CD"/>
                </a:solidFill>
                <a:latin typeface="Arial Narrow" pitchFamily="34" charset="0"/>
              </a:rPr>
              <a:t>01 — Introducción</a:t>
            </a:r>
          </a:p>
        </p:txBody>
      </p:sp>
      <p:sp>
        <p:nvSpPr>
          <p:cNvPr id="4" name="BlueLine"/>
          <p:cNvSpPr/>
          <p:nvPr/>
        </p:nvSpPr>
        <p:spPr>
          <a:xfrm>
            <a:off x="3" y="5896483"/>
            <a:ext cx="9144000" cy="13716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ció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"/>
          <p:cNvSpPr/>
          <p:nvPr/>
        </p:nvSpPr>
        <p:spPr>
          <a:xfrm>
            <a:off x="679208" y="1700000"/>
            <a:ext cx="8083296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800" dirty="0">
                <a:solidFill>
                  <a:srgbClr val="AAAAAA"/>
                </a:solidFill>
                <a:latin typeface="Arial" pitchFamily="34" charset="0"/>
              </a:rPr>
              <a:t>Sección 2 · Objetivos</a:t>
            </a:r>
          </a:p>
        </p:txBody>
      </p:sp>
      <p:sp>
        <p:nvSpPr>
          <p:cNvPr id="3" name="SectionTitle"/>
          <p:cNvSpPr/>
          <p:nvPr/>
        </p:nvSpPr>
        <p:spPr>
          <a:xfrm>
            <a:off x="679208" y="2200000"/>
            <a:ext cx="8083296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4400" b="1" dirty="0">
                <a:solidFill>
                  <a:srgbClr val="0098CD"/>
                </a:solidFill>
                <a:latin typeface="Arial Narrow" pitchFamily="34" charset="0"/>
              </a:rPr>
              <a:t>02 — Objetivos</a:t>
            </a:r>
          </a:p>
        </p:txBody>
      </p:sp>
      <p:sp>
        <p:nvSpPr>
          <p:cNvPr id="4" name="BlueLine"/>
          <p:cNvSpPr/>
          <p:nvPr/>
        </p:nvSpPr>
        <p:spPr>
          <a:xfrm>
            <a:off x="3" y="5896483"/>
            <a:ext cx="9144000" cy="13716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ció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"/>
          <p:cNvSpPr/>
          <p:nvPr/>
        </p:nvSpPr>
        <p:spPr>
          <a:xfrm>
            <a:off x="679208" y="1700000"/>
            <a:ext cx="8083296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800" dirty="0">
                <a:solidFill>
                  <a:srgbClr val="AAAAAA"/>
                </a:solidFill>
                <a:latin typeface="Arial" pitchFamily="34" charset="0"/>
              </a:rPr>
              <a:t>Sección 3 · Desarrollo</a:t>
            </a:r>
          </a:p>
        </p:txBody>
      </p:sp>
      <p:sp>
        <p:nvSpPr>
          <p:cNvPr id="3" name="SectionTitle"/>
          <p:cNvSpPr/>
          <p:nvPr/>
        </p:nvSpPr>
        <p:spPr>
          <a:xfrm>
            <a:off x="679208" y="2200000"/>
            <a:ext cx="8083296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4400" b="1" dirty="0">
                <a:solidFill>
                  <a:srgbClr val="0098CD"/>
                </a:solidFill>
                <a:latin typeface="Arial Narrow" pitchFamily="34" charset="0"/>
              </a:rPr>
              <a:t>03 — Desarrollo de la Propuesta</a:t>
            </a:r>
          </a:p>
        </p:txBody>
      </p:sp>
      <p:sp>
        <p:nvSpPr>
          <p:cNvPr id="4" name="BlueLine"/>
          <p:cNvSpPr/>
          <p:nvPr/>
        </p:nvSpPr>
        <p:spPr>
          <a:xfrm>
            <a:off x="3" y="5896483"/>
            <a:ext cx="9144000" cy="13716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ció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"/>
          <p:cNvSpPr/>
          <p:nvPr/>
        </p:nvSpPr>
        <p:spPr>
          <a:xfrm>
            <a:off x="679208" y="1700000"/>
            <a:ext cx="8083296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800" dirty="0">
                <a:solidFill>
                  <a:srgbClr val="AAAAAA"/>
                </a:solidFill>
                <a:latin typeface="Arial" pitchFamily="34" charset="0"/>
              </a:rPr>
              <a:t>Sección 4 · Evaluación</a:t>
            </a:r>
          </a:p>
        </p:txBody>
      </p:sp>
      <p:sp>
        <p:nvSpPr>
          <p:cNvPr id="3" name="SectionTitle"/>
          <p:cNvSpPr/>
          <p:nvPr/>
        </p:nvSpPr>
        <p:spPr>
          <a:xfrm>
            <a:off x="679208" y="2200000"/>
            <a:ext cx="8083296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4400" b="1" dirty="0">
                <a:solidFill>
                  <a:srgbClr val="0098CD"/>
                </a:solidFill>
                <a:latin typeface="Arial Narrow" pitchFamily="34" charset="0"/>
              </a:rPr>
              <a:t>04 — Evaluación y Conclusiones</a:t>
            </a:r>
          </a:p>
        </p:txBody>
      </p:sp>
      <p:sp>
        <p:nvSpPr>
          <p:cNvPr id="4" name="BlueLine"/>
          <p:cNvSpPr/>
          <p:nvPr/>
        </p:nvSpPr>
        <p:spPr>
          <a:xfrm>
            <a:off x="3" y="5896483"/>
            <a:ext cx="9144000" cy="137160"/>
          </a:xfrm>
          <a:prstGeom prst="rect">
            <a:avLst/>
          </a:prstGeom>
          <a:solidFill>
            <a:srgbClr val="0098CD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464646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Default">
      <a:majorFont>
        <a:latin typeface="Arial Narrow"/>
        <a:ea typeface="Arial Narrow"/>
        <a:cs typeface="Arial Narrow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F42446C-741E-40C2-9CBC-927AEC75A3D8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1837</Words>
  <Application>Microsoft Office PowerPoint</Application>
  <PresentationFormat>Presentación en pantalla (4:3)</PresentationFormat>
  <Paragraphs>290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Arial Narrow</vt:lpstr>
      <vt:lpstr>Avenir Roman</vt:lpstr>
      <vt:lpstr>Office Theme</vt:lpstr>
      <vt:lpstr>Default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octavio perez bravo</cp:lastModifiedBy>
  <cp:revision>4</cp:revision>
  <dcterms:created xsi:type="dcterms:W3CDTF">2026-03-22T20:29:20Z</dcterms:created>
  <dcterms:modified xsi:type="dcterms:W3CDTF">2026-03-22T23:22:05Z</dcterms:modified>
</cp:coreProperties>
</file>